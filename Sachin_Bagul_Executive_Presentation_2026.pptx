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3" r:id="rId4"/>
    <p:sldId id="258" r:id="rId5"/>
    <p:sldId id="259" r:id="rId6"/>
    <p:sldId id="260" r:id="rId7"/>
    <p:sldId id="261" r:id="rId8"/>
    <p:sldId id="262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8" d="100"/>
          <a:sy n="78" d="100"/>
        </p:scale>
        <p:origin x="-408" y="-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ptos"/>
              </a:rPr>
              <a:t>SACHIN BAGUL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5331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75DCE0"/>
                </a:solidFill>
                <a:latin typeface="Aptos"/>
              </a:rPr>
              <a:t>Global Procurement &amp; Pricing Leader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dirty="0">
                <a:solidFill>
                  <a:srgbClr val="FFFFFF"/>
                </a:solidFill>
                <a:latin typeface="Aptos"/>
              </a:rPr>
              <a:t>18+ Years | Automotive &amp; Industrial | Strategic Sourcing | Commercial Excellence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971800"/>
            <a:ext cx="1874519" cy="777240"/>
          </a:xfrm>
          <a:prstGeom prst="roundRect">
            <a:avLst/>
          </a:prstGeom>
          <a:solidFill>
            <a:srgbClr val="009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783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Aptos"/>
              </a:rPr>
              <a:t>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9192" y="317296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2971800"/>
            <a:ext cx="1874519" cy="777240"/>
          </a:xfrm>
          <a:prstGeom prst="roundRect">
            <a:avLst/>
          </a:prstGeom>
          <a:solidFill>
            <a:srgbClr val="2D62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63240" y="3136392"/>
            <a:ext cx="1783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9472" y="317296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57800" y="2971800"/>
            <a:ext cx="1874519" cy="777240"/>
          </a:xfrm>
          <a:prstGeom prst="roundRect">
            <a:avLst/>
          </a:prstGeom>
          <a:solidFill>
            <a:srgbClr val="E0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0" y="3136392"/>
            <a:ext cx="1783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PRICE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317296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80" y="2971800"/>
            <a:ext cx="1874519" cy="777240"/>
          </a:xfrm>
          <a:prstGeom prst="roundRect">
            <a:avLst/>
          </a:prstGeom>
          <a:solidFill>
            <a:srgbClr val="009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43800" y="3136392"/>
            <a:ext cx="1783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MARGIN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00032" y="317296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38360" y="2971800"/>
            <a:ext cx="1874519" cy="777240"/>
          </a:xfrm>
          <a:prstGeom prst="roundRect">
            <a:avLst/>
          </a:prstGeom>
          <a:solidFill>
            <a:srgbClr val="2D62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0" y="3136392"/>
            <a:ext cx="17830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Aptos"/>
              </a:rPr>
              <a:t>PROFITABLE</a:t>
            </a:r>
            <a:r>
              <a:rPr dirty="0"/>
              <a:t/>
            </a:r>
            <a:br>
              <a:rPr dirty="0"/>
            </a:br>
            <a:r>
              <a:rPr b="1" dirty="0">
                <a:solidFill>
                  <a:schemeClr val="bg1"/>
                </a:solidFill>
              </a:rPr>
              <a:t>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2519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ptos"/>
              </a:rPr>
              <a:t>TWO </a:t>
            </a:r>
            <a:r>
              <a:rPr sz="1500" b="1" dirty="0" smtClean="0">
                <a:solidFill>
                  <a:srgbClr val="FFFFFF"/>
                </a:solidFill>
                <a:latin typeface="Aptos"/>
              </a:rPr>
              <a:t>COMPLEMENTARY EXECUTIVE </a:t>
            </a:r>
            <a:r>
              <a:rPr sz="1500" b="1" dirty="0">
                <a:solidFill>
                  <a:srgbClr val="FFFFFF"/>
                </a:solidFill>
                <a:latin typeface="Aptos"/>
              </a:rPr>
              <a:t>PROFILES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709160"/>
            <a:ext cx="5212080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u="sng" dirty="0">
                <a:solidFill>
                  <a:srgbClr val="FFFFFF"/>
                </a:solidFill>
                <a:latin typeface="Aptos"/>
              </a:rPr>
              <a:t>GLOBAL PROCUREMENT</a:t>
            </a:r>
            <a:r>
              <a:rPr b="1" u="sng" dirty="0"/>
              <a:t/>
            </a:r>
            <a:br>
              <a:rPr b="1" u="sng" dirty="0"/>
            </a:br>
            <a:r>
              <a:rPr dirty="0">
                <a:solidFill>
                  <a:schemeClr val="bg1">
                    <a:lumMod val="65000"/>
                  </a:schemeClr>
                </a:solidFill>
              </a:rPr>
              <a:t>Strategic Sourcing • Commodity • Supplier • Cost Transformation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709160"/>
            <a:ext cx="5212080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u="sng" dirty="0">
                <a:solidFill>
                  <a:srgbClr val="FFFFFF"/>
                </a:solidFill>
                <a:latin typeface="Aptos"/>
              </a:rPr>
              <a:t>GLOBAL PRICING</a:t>
            </a:r>
            <a:r>
              <a:rPr b="1" u="sng" dirty="0"/>
              <a:t/>
            </a:r>
            <a:br>
              <a:rPr b="1" u="sng" dirty="0"/>
            </a:b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Pricing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Strategy • Inflation Recovery • P&amp;L • Commercial Excellence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080760"/>
            <a:ext cx="107899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b="0" dirty="0" smtClean="0">
                <a:solidFill>
                  <a:srgbClr val="D2DCE6"/>
                </a:solidFill>
                <a:latin typeface="Aptos"/>
              </a:rPr>
              <a:t>Mb No / What’s up : 9890 82 2329 | </a:t>
            </a:r>
            <a:r>
              <a:rPr sz="900" b="0" dirty="0" smtClean="0">
                <a:solidFill>
                  <a:srgbClr val="D2DCE6"/>
                </a:solidFill>
                <a:latin typeface="Aptos"/>
              </a:rPr>
              <a:t>sachinbagul@gmail.com  </a:t>
            </a:r>
            <a:r>
              <a:rPr sz="900" b="0" dirty="0">
                <a:solidFill>
                  <a:srgbClr val="D2DCE6"/>
                </a:solidFill>
                <a:latin typeface="Aptos"/>
              </a:rPr>
              <a:t>|  linkedin.com/in/</a:t>
            </a:r>
            <a:r>
              <a:rPr sz="900" b="0" dirty="0" err="1">
                <a:solidFill>
                  <a:srgbClr val="D2DCE6"/>
                </a:solidFill>
                <a:latin typeface="Aptos"/>
              </a:rPr>
              <a:t>sachinbagul</a:t>
            </a:r>
            <a:endParaRPr sz="900" b="0" dirty="0">
              <a:solidFill>
                <a:srgbClr val="D2DCE6"/>
              </a:solidFill>
              <a:latin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0C2540"/>
                </a:solidFill>
                <a:latin typeface="Aptos"/>
              </a:rPr>
              <a:t>CAREER CONTOUR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3152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 smtClean="0">
                <a:solidFill>
                  <a:srgbClr val="0070C0"/>
                </a:solidFill>
              </a:rPr>
              <a:t>18+ Years </a:t>
            </a:r>
            <a:r>
              <a:rPr lang="en-US" sz="1100" b="1" dirty="0" err="1" smtClean="0">
                <a:solidFill>
                  <a:srgbClr val="0070C0"/>
                </a:solidFill>
              </a:rPr>
              <a:t>Exp</a:t>
            </a:r>
            <a:r>
              <a:rPr lang="en-US" sz="1100" b="1" dirty="0" smtClean="0">
                <a:solidFill>
                  <a:srgbClr val="0070C0"/>
                </a:solidFill>
              </a:rPr>
              <a:t> | Global </a:t>
            </a:r>
            <a:r>
              <a:rPr lang="en-US" sz="1100" b="1" dirty="0">
                <a:solidFill>
                  <a:srgbClr val="0070C0"/>
                </a:solidFill>
              </a:rPr>
              <a:t>Pricing &amp; Commercial Excellence Leader | Pricing Strategy | Revenue Growth | Margin Optimization | Commercial Negotiations | Value </a:t>
            </a:r>
            <a:r>
              <a:rPr lang="en-US" sz="1100" b="1" dirty="0" err="1" smtClean="0">
                <a:solidFill>
                  <a:srgbClr val="0070C0"/>
                </a:solidFill>
              </a:rPr>
              <a:t>Engg</a:t>
            </a:r>
            <a:r>
              <a:rPr lang="en-US" sz="1100" b="1" dirty="0" smtClean="0">
                <a:solidFill>
                  <a:srgbClr val="0070C0"/>
                </a:solidFill>
              </a:rPr>
              <a:t>| </a:t>
            </a:r>
            <a:r>
              <a:rPr lang="en-US" sz="1100" b="1" dirty="0">
                <a:solidFill>
                  <a:srgbClr val="0070C0"/>
                </a:solidFill>
              </a:rPr>
              <a:t>Strategic Sourcing</a:t>
            </a:r>
            <a:endParaRPr sz="1100" b="1" dirty="0">
              <a:solidFill>
                <a:srgbClr val="0070C0"/>
              </a:solidFill>
              <a:latin typeface="Apto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85800" y="1783080"/>
            <a:ext cx="10789920" cy="36576"/>
          </a:xfrm>
          <a:prstGeom prst="rect">
            <a:avLst/>
          </a:prstGeom>
          <a:solidFill>
            <a:srgbClr val="6E78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15568" y="1627632"/>
            <a:ext cx="256032" cy="256032"/>
          </a:xfrm>
          <a:prstGeom prst="ellipse">
            <a:avLst/>
          </a:prstGeom>
          <a:solidFill>
            <a:srgbClr val="2D62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143000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03942"/>
                </a:solidFill>
                <a:latin typeface="Aptos"/>
              </a:rPr>
              <a:t>2006–2007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2984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dirty="0">
                <a:solidFill>
                  <a:srgbClr val="0C2540"/>
                </a:solidFill>
                <a:latin typeface="Aptos"/>
              </a:rPr>
              <a:t>Mahindra </a:t>
            </a:r>
            <a:r>
              <a:rPr sz="850" b="1" dirty="0" err="1">
                <a:solidFill>
                  <a:srgbClr val="0C2540"/>
                </a:solidFill>
                <a:latin typeface="Aptos"/>
              </a:rPr>
              <a:t>Ugine</a:t>
            </a:r>
            <a:r>
              <a:rPr sz="850" b="1" dirty="0">
                <a:solidFill>
                  <a:srgbClr val="0C2540"/>
                </a:solidFill>
                <a:latin typeface="Aptos"/>
              </a:rPr>
              <a:t> Steel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542032"/>
            <a:ext cx="1298448" cy="6583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sz="750" b="1" dirty="0">
                <a:solidFill>
                  <a:srgbClr val="303942"/>
                </a:solidFill>
                <a:latin typeface="Aptos"/>
              </a:rPr>
              <a:t>Graduate Engineering Trainee – Direct Procurement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46120"/>
            <a:ext cx="1298448" cy="5847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sz="800" b="1" dirty="0">
                <a:solidFill>
                  <a:schemeClr val="accent6">
                    <a:lumMod val="50000"/>
                  </a:schemeClr>
                </a:solidFill>
                <a:latin typeface="Aptos"/>
              </a:rPr>
              <a:t>Stamping &amp; sheet </a:t>
            </a:r>
            <a:r>
              <a:rPr lang="en-US"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M</a:t>
            </a:r>
            <a:r>
              <a:rPr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etal</a:t>
            </a:r>
            <a:r>
              <a:rPr lang="en-US"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 Parts</a:t>
            </a:r>
          </a:p>
          <a:p>
            <a:pPr algn="ctr"/>
            <a:endParaRPr lang="en-US" sz="800" b="1" dirty="0">
              <a:solidFill>
                <a:schemeClr val="accent6">
                  <a:lumMod val="50000"/>
                </a:schemeClr>
              </a:solidFill>
              <a:latin typeface="Aptos"/>
            </a:endParaRPr>
          </a:p>
          <a:p>
            <a:pPr algn="ctr"/>
            <a:endParaRPr sz="800" b="1" dirty="0">
              <a:solidFill>
                <a:schemeClr val="accent6">
                  <a:lumMod val="50000"/>
                </a:schemeClr>
              </a:solidFill>
              <a:latin typeface="Aptos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2560320" y="1627632"/>
            <a:ext cx="256032" cy="256032"/>
          </a:xfrm>
          <a:prstGeom prst="ellipse">
            <a:avLst/>
          </a:prstGeom>
          <a:solidFill>
            <a:srgbClr val="2D62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039112" y="1143000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03942"/>
                </a:solidFill>
                <a:latin typeface="Aptos"/>
              </a:rPr>
              <a:t>2007–2008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39112" y="2011680"/>
            <a:ext cx="12984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dirty="0">
                <a:solidFill>
                  <a:srgbClr val="0C2540"/>
                </a:solidFill>
                <a:latin typeface="Aptos"/>
              </a:rPr>
              <a:t>TATA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39112" y="2542032"/>
            <a:ext cx="1298448" cy="6583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sz="750" b="1" dirty="0">
                <a:solidFill>
                  <a:srgbClr val="303942"/>
                </a:solidFill>
                <a:latin typeface="Aptos"/>
              </a:rPr>
              <a:t>Service Support Engineer – Indirect Procurement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39112" y="3246120"/>
            <a:ext cx="1298448" cy="5847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sz="800" b="1" dirty="0">
                <a:solidFill>
                  <a:schemeClr val="accent6">
                    <a:lumMod val="50000"/>
                  </a:schemeClr>
                </a:solidFill>
                <a:latin typeface="Aptos"/>
              </a:rPr>
              <a:t>Capital items, </a:t>
            </a:r>
            <a:r>
              <a:rPr lang="en-US"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M</a:t>
            </a:r>
            <a:r>
              <a:rPr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achinery </a:t>
            </a:r>
            <a:r>
              <a:rPr sz="800" b="1" dirty="0">
                <a:solidFill>
                  <a:schemeClr val="accent6">
                    <a:lumMod val="50000"/>
                  </a:schemeClr>
                </a:solidFill>
                <a:latin typeface="Aptos"/>
              </a:rPr>
              <a:t>&amp; </a:t>
            </a:r>
            <a:r>
              <a:rPr lang="en-US"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S</a:t>
            </a:r>
            <a:r>
              <a:rPr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ervices</a:t>
            </a:r>
            <a:endParaRPr lang="en-US" sz="800" b="1" dirty="0" smtClean="0">
              <a:solidFill>
                <a:schemeClr val="accent6">
                  <a:lumMod val="50000"/>
                </a:schemeClr>
              </a:solidFill>
              <a:latin typeface="Aptos"/>
            </a:endParaRPr>
          </a:p>
          <a:p>
            <a:pPr algn="ctr"/>
            <a:endParaRPr lang="en-US" sz="800" b="1" dirty="0">
              <a:solidFill>
                <a:schemeClr val="accent6">
                  <a:lumMod val="50000"/>
                </a:schemeClr>
              </a:solidFill>
              <a:latin typeface="Aptos"/>
            </a:endParaRPr>
          </a:p>
          <a:p>
            <a:pPr algn="ctr"/>
            <a:endParaRPr sz="800" b="1" dirty="0">
              <a:solidFill>
                <a:schemeClr val="accent6">
                  <a:lumMod val="50000"/>
                </a:schemeClr>
              </a:solidFill>
              <a:latin typeface="Aptos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4005072" y="1627632"/>
            <a:ext cx="256032" cy="256032"/>
          </a:xfrm>
          <a:prstGeom prst="ellipse">
            <a:avLst/>
          </a:prstGeom>
          <a:solidFill>
            <a:srgbClr val="2D62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83864" y="1143000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03942"/>
                </a:solidFill>
                <a:latin typeface="Aptos"/>
              </a:rPr>
              <a:t>2008–2011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83864" y="2011680"/>
            <a:ext cx="12984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0C2540"/>
                </a:solidFill>
                <a:latin typeface="Aptos"/>
              </a:rPr>
              <a:t>Larsen &amp; Toubro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864" y="2542032"/>
            <a:ext cx="1298448" cy="6583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03942"/>
                </a:solidFill>
                <a:latin typeface="Aptos"/>
              </a:rPr>
              <a:t>Sr. Engineer / Asst. Manager – Procurement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864" y="3246120"/>
            <a:ext cx="1298448" cy="70788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sz="800" b="1" dirty="0">
                <a:solidFill>
                  <a:schemeClr val="accent6">
                    <a:lumMod val="50000"/>
                  </a:schemeClr>
                </a:solidFill>
                <a:latin typeface="Aptos"/>
              </a:rPr>
              <a:t>Indirect + </a:t>
            </a:r>
            <a:r>
              <a:rPr lang="en-US"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D</a:t>
            </a:r>
            <a:r>
              <a:rPr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irect </a:t>
            </a:r>
            <a:r>
              <a:rPr sz="800" b="1" dirty="0">
                <a:solidFill>
                  <a:schemeClr val="accent6">
                    <a:lumMod val="50000"/>
                  </a:schemeClr>
                </a:solidFill>
                <a:latin typeface="Aptos"/>
              </a:rPr>
              <a:t>material / project </a:t>
            </a:r>
            <a:r>
              <a:rPr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procurement</a:t>
            </a:r>
            <a:r>
              <a:rPr lang="en-US"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, RM Copper, Silver Procurement </a:t>
            </a:r>
            <a:endParaRPr sz="800" b="1" dirty="0">
              <a:solidFill>
                <a:schemeClr val="accent6">
                  <a:lumMod val="50000"/>
                </a:schemeClr>
              </a:solidFill>
              <a:latin typeface="Aptos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5449824" y="1627632"/>
            <a:ext cx="256032" cy="256032"/>
          </a:xfrm>
          <a:prstGeom prst="ellipse">
            <a:avLst/>
          </a:prstGeom>
          <a:solidFill>
            <a:srgbClr val="2D62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928616" y="1143000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03942"/>
                </a:solidFill>
                <a:latin typeface="Aptos"/>
              </a:rPr>
              <a:t>2011–2014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28616" y="2011680"/>
            <a:ext cx="12984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0C2540"/>
                </a:solidFill>
                <a:latin typeface="Aptos"/>
              </a:rPr>
              <a:t>Honeywell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28616" y="2542032"/>
            <a:ext cx="1298448" cy="6583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03942"/>
                </a:solidFill>
                <a:latin typeface="Aptos"/>
              </a:rPr>
              <a:t>Supply Base Analyst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3246120"/>
            <a:ext cx="1298448" cy="5847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sz="800" b="1" dirty="0">
                <a:solidFill>
                  <a:schemeClr val="accent6">
                    <a:lumMod val="50000"/>
                  </a:schemeClr>
                </a:solidFill>
                <a:latin typeface="Aptos"/>
              </a:rPr>
              <a:t>MATEX, spend analysis &amp; SAP master </a:t>
            </a:r>
            <a:r>
              <a:rPr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data</a:t>
            </a:r>
            <a:r>
              <a:rPr lang="en-US"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, PO &amp; Info Record </a:t>
            </a:r>
            <a:r>
              <a:rPr lang="en-US" sz="800" b="1" dirty="0" err="1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updation</a:t>
            </a:r>
            <a:endParaRPr sz="800" b="1" dirty="0">
              <a:solidFill>
                <a:schemeClr val="accent6">
                  <a:lumMod val="50000"/>
                </a:schemeClr>
              </a:solidFill>
              <a:latin typeface="Aptos"/>
            </a:endParaRPr>
          </a:p>
        </p:txBody>
      </p:sp>
      <p:sp>
        <p:nvSpPr>
          <p:cNvPr id="27" name="Oval 26"/>
          <p:cNvSpPr/>
          <p:nvPr/>
        </p:nvSpPr>
        <p:spPr>
          <a:xfrm>
            <a:off x="6894576" y="1627632"/>
            <a:ext cx="256032" cy="256032"/>
          </a:xfrm>
          <a:prstGeom prst="ellipse">
            <a:avLst/>
          </a:prstGeom>
          <a:solidFill>
            <a:srgbClr val="2D62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73368" y="1143000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03942"/>
                </a:solidFill>
                <a:latin typeface="Aptos"/>
              </a:rPr>
              <a:t>2014–2018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2011680"/>
            <a:ext cx="12984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0C2540"/>
                </a:solidFill>
                <a:latin typeface="Aptos"/>
              </a:rPr>
              <a:t>Honeywell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3368" y="3246120"/>
            <a:ext cx="1298448" cy="70788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sz="800" b="1" dirty="0">
                <a:solidFill>
                  <a:schemeClr val="accent6">
                    <a:lumMod val="50000"/>
                  </a:schemeClr>
                </a:solidFill>
                <a:latin typeface="Aptos"/>
              </a:rPr>
              <a:t>Strategic </a:t>
            </a:r>
            <a:r>
              <a:rPr lang="en-US"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S</a:t>
            </a:r>
            <a:r>
              <a:rPr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ourcing</a:t>
            </a:r>
            <a:r>
              <a:rPr sz="800" b="1" dirty="0">
                <a:solidFill>
                  <a:schemeClr val="accent6">
                    <a:lumMod val="50000"/>
                  </a:schemeClr>
                </a:solidFill>
                <a:latin typeface="Aptos"/>
              </a:rPr>
              <a:t>, </a:t>
            </a:r>
            <a:r>
              <a:rPr lang="en-US"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S</a:t>
            </a:r>
            <a:r>
              <a:rPr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upplier </a:t>
            </a:r>
            <a:r>
              <a:rPr sz="800" b="1" dirty="0">
                <a:solidFill>
                  <a:schemeClr val="accent6">
                    <a:lumMod val="50000"/>
                  </a:schemeClr>
                </a:solidFill>
                <a:latin typeface="Aptos"/>
              </a:rPr>
              <a:t>negotiations &amp; </a:t>
            </a:r>
            <a:r>
              <a:rPr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NPI</a:t>
            </a:r>
            <a:r>
              <a:rPr lang="en-US"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, India </a:t>
            </a:r>
            <a:r>
              <a:rPr lang="en-US" sz="800" b="1" dirty="0" err="1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Matex</a:t>
            </a:r>
            <a:r>
              <a:rPr lang="en-US"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 Leader , Casting &amp; Machining Commodity </a:t>
            </a:r>
            <a:endParaRPr sz="800" b="1" dirty="0">
              <a:solidFill>
                <a:schemeClr val="accent6">
                  <a:lumMod val="50000"/>
                </a:schemeClr>
              </a:solidFill>
              <a:latin typeface="Aptos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8339328" y="1627632"/>
            <a:ext cx="256032" cy="256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818120" y="1143000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03942"/>
                </a:solidFill>
                <a:latin typeface="Aptos"/>
              </a:rPr>
              <a:t>2018–2023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8120" y="2011680"/>
            <a:ext cx="12984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0C2540"/>
                </a:solidFill>
                <a:latin typeface="Aptos"/>
              </a:rPr>
              <a:t>Garrett Advancing Motion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2542032"/>
            <a:ext cx="1298448" cy="6583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sz="750" b="1" dirty="0">
                <a:solidFill>
                  <a:srgbClr val="303942"/>
                </a:solidFill>
                <a:latin typeface="Aptos"/>
              </a:rPr>
              <a:t>Global VE / Re-Sourcing Manager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20" y="3246120"/>
            <a:ext cx="1298448" cy="5847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sz="800" b="1" dirty="0">
                <a:solidFill>
                  <a:schemeClr val="accent6">
                    <a:lumMod val="50000"/>
                  </a:schemeClr>
                </a:solidFill>
                <a:latin typeface="Aptos"/>
              </a:rPr>
              <a:t>VE, Re-sourcing, Make </a:t>
            </a:r>
            <a:r>
              <a:rPr sz="800" b="1" dirty="0" err="1">
                <a:solidFill>
                  <a:schemeClr val="accent6">
                    <a:lumMod val="50000"/>
                  </a:schemeClr>
                </a:solidFill>
                <a:latin typeface="Aptos"/>
              </a:rPr>
              <a:t>vs</a:t>
            </a:r>
            <a:r>
              <a:rPr sz="800" b="1" dirty="0">
                <a:solidFill>
                  <a:schemeClr val="accent6">
                    <a:lumMod val="50000"/>
                  </a:schemeClr>
                </a:solidFill>
                <a:latin typeface="Aptos"/>
              </a:rPr>
              <a:t> Buy &amp; </a:t>
            </a:r>
            <a:r>
              <a:rPr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MATEX</a:t>
            </a:r>
            <a:r>
              <a:rPr lang="en-US"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, </a:t>
            </a:r>
          </a:p>
          <a:p>
            <a:pPr algn="ctr"/>
            <a:r>
              <a:rPr lang="en-US"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Payback, ROI, Global Program Management </a:t>
            </a:r>
            <a:endParaRPr sz="800" b="1" dirty="0">
              <a:solidFill>
                <a:schemeClr val="accent6">
                  <a:lumMod val="50000"/>
                </a:schemeClr>
              </a:solidFill>
              <a:latin typeface="Aptos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9784080" y="1627632"/>
            <a:ext cx="256032" cy="256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262872" y="1143000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03942"/>
                </a:solidFill>
                <a:latin typeface="Aptos"/>
              </a:rPr>
              <a:t>2023–2025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62872" y="2011680"/>
            <a:ext cx="12984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0C2540"/>
                </a:solidFill>
                <a:latin typeface="Aptos"/>
              </a:rPr>
              <a:t>Garrett Advancing Motion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62872" y="2542032"/>
            <a:ext cx="1298448" cy="6583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03942"/>
                </a:solidFill>
                <a:latin typeface="Aptos"/>
              </a:rPr>
              <a:t>Global Pricing Manager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62872" y="3246120"/>
            <a:ext cx="1298448" cy="70788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sz="800" b="1" dirty="0">
                <a:solidFill>
                  <a:schemeClr val="accent6">
                    <a:lumMod val="50000"/>
                  </a:schemeClr>
                </a:solidFill>
                <a:latin typeface="Aptos"/>
              </a:rPr>
              <a:t>Global </a:t>
            </a:r>
            <a:r>
              <a:rPr lang="en-US"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P</a:t>
            </a:r>
            <a:r>
              <a:rPr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ricing</a:t>
            </a:r>
            <a:r>
              <a:rPr sz="800" b="1" dirty="0">
                <a:solidFill>
                  <a:schemeClr val="accent6">
                    <a:lumMod val="50000"/>
                  </a:schemeClr>
                </a:solidFill>
                <a:latin typeface="Aptos"/>
              </a:rPr>
              <a:t>, </a:t>
            </a:r>
            <a:r>
              <a:rPr lang="en-US"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I</a:t>
            </a:r>
            <a:r>
              <a:rPr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nflation </a:t>
            </a:r>
            <a:r>
              <a:rPr sz="800" b="1" dirty="0">
                <a:solidFill>
                  <a:schemeClr val="accent6">
                    <a:lumMod val="50000"/>
                  </a:schemeClr>
                </a:solidFill>
                <a:latin typeface="Aptos"/>
              </a:rPr>
              <a:t>recovery &amp; </a:t>
            </a:r>
            <a:r>
              <a:rPr lang="en-US"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C</a:t>
            </a:r>
            <a:r>
              <a:rPr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ommercial </a:t>
            </a:r>
            <a:r>
              <a:rPr lang="en-US" sz="800" b="1" dirty="0">
                <a:solidFill>
                  <a:schemeClr val="accent6">
                    <a:lumMod val="50000"/>
                  </a:schemeClr>
                </a:solidFill>
                <a:latin typeface="Aptos"/>
              </a:rPr>
              <a:t>G</a:t>
            </a:r>
            <a:r>
              <a:rPr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overnance</a:t>
            </a:r>
            <a:r>
              <a:rPr lang="en-US"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, Tariff , Finance Modeling </a:t>
            </a:r>
            <a:endParaRPr sz="800" b="1" dirty="0">
              <a:solidFill>
                <a:schemeClr val="accent6">
                  <a:lumMod val="50000"/>
                </a:schemeClr>
              </a:solidFill>
              <a:latin typeface="Aptos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11228832" y="1627632"/>
            <a:ext cx="256032" cy="256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707624" y="1143000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03942"/>
                </a:solidFill>
                <a:latin typeface="Aptos"/>
              </a:rPr>
              <a:t>2025–Present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07624" y="2011680"/>
            <a:ext cx="12984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0C2540"/>
                </a:solidFill>
                <a:latin typeface="Aptos"/>
              </a:rPr>
              <a:t>Garrett Advancing Motion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07624" y="2542032"/>
            <a:ext cx="1298448" cy="6583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03942"/>
                </a:solidFill>
                <a:latin typeface="Aptos"/>
              </a:rPr>
              <a:t>Global Commodity Manager – Actuation &amp; Sensing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07624" y="3246120"/>
            <a:ext cx="1298448" cy="5847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sz="800" b="1" dirty="0">
                <a:solidFill>
                  <a:schemeClr val="accent6">
                    <a:lumMod val="50000"/>
                  </a:schemeClr>
                </a:solidFill>
                <a:latin typeface="Aptos"/>
              </a:rPr>
              <a:t>Global </a:t>
            </a:r>
            <a:r>
              <a:rPr lang="en-US"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s</a:t>
            </a:r>
            <a:r>
              <a:rPr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ourcing</a:t>
            </a:r>
            <a:r>
              <a:rPr sz="800" b="1" dirty="0">
                <a:solidFill>
                  <a:schemeClr val="accent6">
                    <a:lumMod val="50000"/>
                  </a:schemeClr>
                </a:solidFill>
                <a:latin typeface="Aptos"/>
              </a:rPr>
              <a:t>, </a:t>
            </a:r>
            <a:r>
              <a:rPr lang="en-US"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S</a:t>
            </a:r>
            <a:r>
              <a:rPr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uppliers</a:t>
            </a:r>
            <a:r>
              <a:rPr sz="800" b="1" dirty="0">
                <a:solidFill>
                  <a:schemeClr val="accent6">
                    <a:lumMod val="50000"/>
                  </a:schemeClr>
                </a:solidFill>
                <a:latin typeface="Aptos"/>
              </a:rPr>
              <a:t>, MATEX &amp; </a:t>
            </a:r>
            <a:r>
              <a:rPr lang="en-US"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R</a:t>
            </a:r>
            <a:r>
              <a:rPr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esilience</a:t>
            </a:r>
            <a:r>
              <a:rPr lang="en-US" sz="800" b="1" dirty="0" smtClean="0">
                <a:solidFill>
                  <a:schemeClr val="accent6">
                    <a:lumMod val="50000"/>
                  </a:schemeClr>
                </a:solidFill>
                <a:latin typeface="Aptos"/>
              </a:rPr>
              <a:t>, Actuation &amp; Sensing Commodity</a:t>
            </a:r>
            <a:endParaRPr sz="800" b="1" dirty="0">
              <a:solidFill>
                <a:schemeClr val="accent6">
                  <a:lumMod val="50000"/>
                </a:schemeClr>
              </a:solidFill>
              <a:latin typeface="Aptos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292608" y="4134401"/>
            <a:ext cx="3657600" cy="2148840"/>
          </a:xfrm>
          <a:prstGeom prst="roundRect">
            <a:avLst/>
          </a:prstGeom>
          <a:solidFill>
            <a:srgbClr val="F2F6F9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67512" y="416052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96A5"/>
                </a:solidFill>
                <a:latin typeface="Aptos"/>
              </a:rPr>
              <a:t>CORE STRENGTHS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" y="4526280"/>
            <a:ext cx="3337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00">
                <a:solidFill>
                  <a:srgbClr val="303942"/>
                </a:solidFill>
                <a:latin typeface="Aptos"/>
              </a:defRPr>
            </a:pPr>
            <a:r>
              <a:rPr dirty="0"/>
              <a:t>• Global Strategic Sourcing &amp; Procurement</a:t>
            </a:r>
          </a:p>
          <a:p>
            <a:pPr>
              <a:spcAft>
                <a:spcPts val="500"/>
              </a:spcAft>
              <a:defRPr sz="900">
                <a:solidFill>
                  <a:srgbClr val="303942"/>
                </a:solidFill>
                <a:latin typeface="Aptos"/>
              </a:defRPr>
            </a:pPr>
            <a:r>
              <a:rPr dirty="0"/>
              <a:t>• Global Supplier Management &amp; SRM</a:t>
            </a:r>
          </a:p>
          <a:p>
            <a:pPr>
              <a:spcAft>
                <a:spcPts val="500"/>
              </a:spcAft>
              <a:defRPr sz="900">
                <a:solidFill>
                  <a:srgbClr val="303942"/>
                </a:solidFill>
                <a:latin typeface="Aptos"/>
              </a:defRPr>
            </a:pPr>
            <a:r>
              <a:rPr dirty="0"/>
              <a:t>• Commodity Price Forecasting &amp; Market Intelligence</a:t>
            </a:r>
          </a:p>
          <a:p>
            <a:pPr>
              <a:spcAft>
                <a:spcPts val="500"/>
              </a:spcAft>
              <a:defRPr sz="900">
                <a:solidFill>
                  <a:srgbClr val="303942"/>
                </a:solidFill>
                <a:latin typeface="Aptos"/>
              </a:defRPr>
            </a:pPr>
            <a:r>
              <a:rPr dirty="0"/>
              <a:t>• Cost Modeling &amp; TCO</a:t>
            </a:r>
          </a:p>
          <a:p>
            <a:pPr>
              <a:spcAft>
                <a:spcPts val="500"/>
              </a:spcAft>
              <a:defRPr sz="900">
                <a:solidFill>
                  <a:srgbClr val="303942"/>
                </a:solidFill>
                <a:latin typeface="Aptos"/>
              </a:defRPr>
            </a:pPr>
            <a:r>
              <a:rPr dirty="0"/>
              <a:t>• Contract Negotiation &amp; International T&amp;C</a:t>
            </a:r>
          </a:p>
          <a:p>
            <a:pPr>
              <a:spcAft>
                <a:spcPts val="500"/>
              </a:spcAft>
              <a:defRPr sz="900">
                <a:solidFill>
                  <a:srgbClr val="303942"/>
                </a:solidFill>
                <a:latin typeface="Aptos"/>
              </a:defRPr>
            </a:pPr>
            <a:r>
              <a:rPr dirty="0"/>
              <a:t>• Risk Analysis &amp; Mitigation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53553" y="4134401"/>
            <a:ext cx="3657600" cy="2148840"/>
          </a:xfrm>
          <a:prstGeom prst="roundRect">
            <a:avLst/>
          </a:prstGeom>
          <a:solidFill>
            <a:srgbClr val="F2F6F9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443983" y="416052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96A5"/>
                </a:solidFill>
                <a:latin typeface="Aptos"/>
              </a:rPr>
              <a:t>EDUCATION &amp; CERTIFICATION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43983" y="4526280"/>
            <a:ext cx="3337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00">
                <a:solidFill>
                  <a:srgbClr val="303942"/>
                </a:solidFill>
                <a:latin typeface="Aptos"/>
              </a:defRPr>
            </a:pPr>
            <a:r>
              <a:rPr dirty="0"/>
              <a:t>• BE Mechanical Engineering</a:t>
            </a:r>
          </a:p>
          <a:p>
            <a:pPr>
              <a:spcAft>
                <a:spcPts val="500"/>
              </a:spcAft>
              <a:defRPr sz="900">
                <a:solidFill>
                  <a:srgbClr val="303942"/>
                </a:solidFill>
                <a:latin typeface="Aptos"/>
              </a:defRPr>
            </a:pPr>
            <a:r>
              <a:rPr dirty="0"/>
              <a:t>• Diploma Mechanical Engineering</a:t>
            </a:r>
          </a:p>
          <a:p>
            <a:pPr>
              <a:spcAft>
                <a:spcPts val="500"/>
              </a:spcAft>
              <a:defRPr sz="900">
                <a:solidFill>
                  <a:srgbClr val="303942"/>
                </a:solidFill>
                <a:latin typeface="Aptos"/>
              </a:defRPr>
            </a:pPr>
            <a:r>
              <a:rPr dirty="0"/>
              <a:t>• Six Sigma Core Green Belt</a:t>
            </a:r>
          </a:p>
          <a:p>
            <a:pPr>
              <a:spcAft>
                <a:spcPts val="500"/>
              </a:spcAft>
              <a:defRPr sz="900">
                <a:solidFill>
                  <a:srgbClr val="303942"/>
                </a:solidFill>
                <a:latin typeface="Aptos"/>
              </a:defRPr>
            </a:pPr>
            <a:r>
              <a:rPr dirty="0"/>
              <a:t>• Logistics &amp; Supply Chain Management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65008" y="4134401"/>
            <a:ext cx="3611880" cy="2148840"/>
          </a:xfrm>
          <a:prstGeom prst="roundRect">
            <a:avLst/>
          </a:prstGeom>
          <a:solidFill>
            <a:srgbClr val="F2F6F9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22960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96A5"/>
                </a:solidFill>
                <a:latin typeface="Aptos"/>
              </a:rPr>
              <a:t>RECOGNITION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0" y="45262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00">
                <a:solidFill>
                  <a:srgbClr val="303942"/>
                </a:solidFill>
                <a:latin typeface="Aptos"/>
              </a:defRPr>
            </a:pPr>
            <a:r>
              <a:t>• Garrett Bravo Platinum – VE/R savings &amp; profitability</a:t>
            </a:r>
          </a:p>
          <a:p>
            <a:pPr>
              <a:spcAft>
                <a:spcPts val="500"/>
              </a:spcAft>
              <a:defRPr sz="900">
                <a:solidFill>
                  <a:srgbClr val="303942"/>
                </a:solidFill>
                <a:latin typeface="Aptos"/>
              </a:defRPr>
            </a:pPr>
            <a:r>
              <a:t>• Garrett Bravo Gold – VE/RE</a:t>
            </a:r>
          </a:p>
          <a:p>
            <a:pPr>
              <a:spcAft>
                <a:spcPts val="500"/>
              </a:spcAft>
              <a:defRPr sz="900">
                <a:solidFill>
                  <a:srgbClr val="303942"/>
                </a:solidFill>
                <a:latin typeface="Aptos"/>
              </a:defRPr>
            </a:pPr>
            <a:r>
              <a:t>• Honeywell Bravo Gold – MATEX</a:t>
            </a:r>
          </a:p>
          <a:p>
            <a:pPr>
              <a:spcAft>
                <a:spcPts val="500"/>
              </a:spcAft>
              <a:defRPr sz="900">
                <a:solidFill>
                  <a:srgbClr val="303942"/>
                </a:solidFill>
                <a:latin typeface="Aptos"/>
              </a:defRPr>
            </a:pPr>
            <a:r>
              <a:t>• Honeywell Functional Excellence – Commercial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E7882"/>
                </a:solidFill>
                <a:latin typeface="Aptos"/>
              </a:rPr>
              <a:t>SACHIN BAGUL  |  PROCUREMENT • PRICING • COMMERCIAL EXCELLENCE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55680" y="6455664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E7882"/>
                </a:solidFill>
                <a:latin typeface="Aptos"/>
              </a:rPr>
              <a:t>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73368" y="2543338"/>
            <a:ext cx="1298448" cy="66941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750" b="1" dirty="0" smtClean="0">
                <a:solidFill>
                  <a:srgbClr val="303942"/>
                </a:solidFill>
                <a:latin typeface="Aptos"/>
              </a:rPr>
              <a:t>Procurement  </a:t>
            </a:r>
          </a:p>
          <a:p>
            <a:pPr algn="ctr"/>
            <a:r>
              <a:rPr lang="en-US" sz="750" b="1" dirty="0" smtClean="0">
                <a:solidFill>
                  <a:srgbClr val="303942"/>
                </a:solidFill>
                <a:latin typeface="Aptos"/>
              </a:rPr>
              <a:t>Manager</a:t>
            </a:r>
          </a:p>
          <a:p>
            <a:pPr algn="ctr"/>
            <a:endParaRPr lang="en-US" sz="750" b="1" dirty="0">
              <a:solidFill>
                <a:srgbClr val="303942"/>
              </a:solidFill>
              <a:latin typeface="Aptos"/>
            </a:endParaRPr>
          </a:p>
          <a:p>
            <a:pPr algn="ctr"/>
            <a:endParaRPr lang="en-US" sz="750" b="1" dirty="0" smtClean="0">
              <a:solidFill>
                <a:srgbClr val="303942"/>
              </a:solidFill>
              <a:latin typeface="Aptos"/>
            </a:endParaRPr>
          </a:p>
          <a:p>
            <a:pPr algn="ctr"/>
            <a:endParaRPr sz="750" b="1" dirty="0">
              <a:solidFill>
                <a:srgbClr val="303942"/>
              </a:solidFill>
              <a:latin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2540"/>
                </a:solidFill>
                <a:latin typeface="Aptos"/>
              </a:rPr>
              <a:t>GLOBAL EXPERIENCE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51560" cy="45720"/>
          </a:xfrm>
          <a:prstGeom prst="rect">
            <a:avLst/>
          </a:prstGeom>
          <a:solidFill>
            <a:srgbClr val="009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0070C0"/>
                </a:solidFill>
              </a:rPr>
              <a:t>Cross-regional leadership across the value chain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5257800" cy="1691640"/>
          </a:xfrm>
          <a:prstGeom prst="roundRect">
            <a:avLst/>
          </a:prstGeom>
          <a:solidFill>
            <a:srgbClr val="F2F6F9"/>
          </a:solidFill>
          <a:ln>
            <a:solidFill>
              <a:srgbClr val="D7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4800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1" dirty="0" smtClean="0">
                <a:solidFill>
                  <a:srgbClr val="0096A5"/>
                </a:solidFill>
                <a:latin typeface="Aptos"/>
              </a:rPr>
              <a:t>Team Leadership </a:t>
            </a:r>
            <a:endParaRPr sz="1500" b="1" dirty="0">
              <a:solidFill>
                <a:srgbClr val="0096A5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984248"/>
            <a:ext cx="4800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 smtClean="0">
                <a:solidFill>
                  <a:srgbClr val="0C2540"/>
                </a:solidFill>
                <a:latin typeface="Aptos"/>
              </a:rPr>
              <a:t>Europe , India, China, North America </a:t>
            </a:r>
            <a:endParaRPr lang="en-US" sz="1000" b="1" dirty="0">
              <a:solidFill>
                <a:srgbClr val="0C2540"/>
              </a:solidFill>
              <a:latin typeface="Aptos"/>
            </a:endParaRPr>
          </a:p>
          <a:p>
            <a:pPr algn="l"/>
            <a:endParaRPr sz="1000" b="1" dirty="0">
              <a:solidFill>
                <a:srgbClr val="0C2540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8680" y="2404872"/>
            <a:ext cx="4800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I lead global, cross-functional teams by creating clarity, ownership and accountability — turning complex procurement and commercial challenges into measurable business results</a:t>
            </a:r>
            <a:endParaRPr sz="850" b="0" dirty="0">
              <a:solidFill>
                <a:srgbClr val="303942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63640" y="1325880"/>
            <a:ext cx="5257800" cy="1691640"/>
          </a:xfrm>
          <a:prstGeom prst="roundRect">
            <a:avLst/>
          </a:prstGeom>
          <a:solidFill>
            <a:srgbClr val="F2F6F9"/>
          </a:solidFill>
          <a:ln>
            <a:solidFill>
              <a:srgbClr val="D7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554480"/>
            <a:ext cx="4800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1" dirty="0" smtClean="0">
                <a:solidFill>
                  <a:srgbClr val="0096A5"/>
                </a:solidFill>
                <a:latin typeface="Aptos"/>
              </a:rPr>
              <a:t>Supplier Managed </a:t>
            </a:r>
            <a:endParaRPr sz="1500" b="1" dirty="0">
              <a:solidFill>
                <a:srgbClr val="0096A5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92240" y="1984248"/>
            <a:ext cx="48006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 smtClean="0">
                <a:solidFill>
                  <a:srgbClr val="0C2540"/>
                </a:solidFill>
                <a:latin typeface="Aptos"/>
              </a:rPr>
              <a:t>Europe, India, China, Japan, South Korea, Vietnam, Brazil, North America </a:t>
            </a:r>
            <a:endParaRPr lang="en-US" sz="1000" b="1" dirty="0">
              <a:solidFill>
                <a:srgbClr val="0C2540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92240" y="2404872"/>
            <a:ext cx="4800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I build supplier partnerships that go beyond price — creating sustainable value through performance, innovation, resilience and strategic collaboration.”</a:t>
            </a:r>
            <a:endParaRPr sz="850" b="0" dirty="0">
              <a:solidFill>
                <a:srgbClr val="303942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5257800" cy="1691640"/>
          </a:xfrm>
          <a:prstGeom prst="roundRect">
            <a:avLst/>
          </a:prstGeom>
          <a:solidFill>
            <a:srgbClr val="F2F6F9"/>
          </a:solidFill>
          <a:ln>
            <a:solidFill>
              <a:srgbClr val="D7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3703320"/>
            <a:ext cx="4800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1" dirty="0" smtClean="0">
                <a:solidFill>
                  <a:srgbClr val="0096A5"/>
                </a:solidFill>
                <a:latin typeface="Aptos"/>
              </a:rPr>
              <a:t>Procurement </a:t>
            </a:r>
            <a:endParaRPr sz="1500" b="1" dirty="0">
              <a:solidFill>
                <a:srgbClr val="0096A5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68680" y="4133087"/>
            <a:ext cx="48006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00" b="1" dirty="0" smtClean="0">
                <a:solidFill>
                  <a:srgbClr val="0C2540"/>
                </a:solidFill>
                <a:latin typeface="Aptos"/>
              </a:rPr>
              <a:t>Direct / Indirect / Raw Material / Casting &amp; Machining / Electronics </a:t>
            </a:r>
            <a:endParaRPr sz="1000" b="1" dirty="0">
              <a:solidFill>
                <a:srgbClr val="0C2540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68680" y="4553712"/>
            <a:ext cx="4800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End-to-end procurement leadership across Direct, Indirect, Raw Materials, Casting &amp; Machining and Electronics — transforming supplier spend into competitive advantage</a:t>
            </a:r>
            <a:endParaRPr sz="850" b="0" dirty="0">
              <a:solidFill>
                <a:srgbClr val="303942"/>
              </a:solidFill>
              <a:latin typeface="Aptos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263640" y="3474720"/>
            <a:ext cx="5257800" cy="1691640"/>
          </a:xfrm>
          <a:prstGeom prst="roundRect">
            <a:avLst/>
          </a:prstGeom>
          <a:solidFill>
            <a:srgbClr val="F2F6F9"/>
          </a:solidFill>
          <a:ln>
            <a:solidFill>
              <a:srgbClr val="D7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3703320"/>
            <a:ext cx="4800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1" dirty="0" smtClean="0">
                <a:solidFill>
                  <a:srgbClr val="0096A5"/>
                </a:solidFill>
                <a:latin typeface="Aptos"/>
              </a:rPr>
              <a:t>Commercial &amp; Financial Management $</a:t>
            </a:r>
            <a:endParaRPr sz="1500" b="1" dirty="0">
              <a:solidFill>
                <a:srgbClr val="0096A5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92240" y="4133087"/>
            <a:ext cx="48006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00" b="1" dirty="0" smtClean="0">
                <a:solidFill>
                  <a:srgbClr val="0C2540"/>
                </a:solidFill>
                <a:latin typeface="Aptos"/>
              </a:rPr>
              <a:t>Managed Cost , Revenue , P&amp;L Management , Accruals , Payback, NPV</a:t>
            </a:r>
            <a:endParaRPr sz="1000" b="1" dirty="0">
              <a:solidFill>
                <a:srgbClr val="0C2540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92240" y="4553712"/>
            <a:ext cx="4800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I connect Procurement and Pricing decisions directly to P&amp;L — translating Cost, Revenue and Cash into measurable profitability and shareholder value.”</a:t>
            </a:r>
            <a:endParaRPr sz="850" b="0" dirty="0">
              <a:solidFill>
                <a:srgbClr val="303942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22960" y="5669280"/>
            <a:ext cx="102412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I bring a global mindset, execute with local understanding, and align cross-functional teams to turn strategy into measurable business results</a:t>
            </a:r>
            <a:endParaRPr sz="1500" b="1" dirty="0">
              <a:solidFill>
                <a:srgbClr val="0C2540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E7882"/>
                </a:solidFill>
                <a:latin typeface="Aptos"/>
              </a:rPr>
              <a:t>SACHIN BAGUL  |  PROCUREMENT • PRICING • COMMERCIAL EXCELLENCE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55664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E7882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2540"/>
                </a:solidFill>
                <a:latin typeface="Aptos"/>
              </a:rPr>
              <a:t>EXECUTIVE VALUE PROPOSITION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51560" cy="45720"/>
          </a:xfrm>
          <a:prstGeom prst="rect">
            <a:avLst/>
          </a:prstGeom>
          <a:solidFill>
            <a:srgbClr val="009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0070C0"/>
                </a:solidFill>
              </a:rPr>
              <a:t>Connecting cost, value, price and margin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0096A5"/>
                </a:solidFill>
                <a:latin typeface="Aptos"/>
              </a:rPr>
              <a:t>THE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Global procurement</a:t>
            </a:r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Value engineering</a:t>
            </a:r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Global pricing</a:t>
            </a:r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Commercial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0096A5"/>
                </a:solidFill>
                <a:latin typeface="Aptos"/>
              </a:rPr>
              <a:t>THE DIFFERENTIATOR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37360"/>
            <a:ext cx="5074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rPr dirty="0"/>
              <a:t>• Supplier economics + customer value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rPr dirty="0"/>
              <a:t>• Cost → Value → Price → Margin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rPr dirty="0"/>
              <a:t>• AOP, ROI, NPV &amp; TCO discipline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rPr dirty="0"/>
              <a:t>• Cross-functional global leadership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E7882"/>
                </a:solidFill>
                <a:latin typeface="Aptos"/>
              </a:rPr>
              <a:t>SACHIN BAGUL  |  PROCUREMENT • PRICING • COMMERCIAL EXCELLENCE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55664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E7882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0C2540"/>
                </a:solidFill>
                <a:latin typeface="Aptos"/>
              </a:rPr>
              <a:t>PROFILE 01 | GLOBAL PROCUREMENT &amp; STRATEGIC SOURCING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51560" cy="45720"/>
          </a:xfrm>
          <a:prstGeom prst="rect">
            <a:avLst/>
          </a:prstGeom>
          <a:solidFill>
            <a:srgbClr val="009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0070C0"/>
                </a:solidFill>
              </a:rPr>
              <a:t>Current leadership: Actuation &amp; Sensing commodity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D62AA"/>
                </a:solidFill>
                <a:latin typeface="Aptos"/>
              </a:rPr>
              <a:t>WHAT I LEAD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Global sourcing &amp; commodity strategies</a:t>
            </a:r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Supplier performance, quality &amp; supply continuity</a:t>
            </a:r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Negotiations: price, LTAs, payment, FX, T&amp;C, capacity</a:t>
            </a:r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AOP and global MATEX initiatives</a:t>
            </a:r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VE, supplier optimization, localization</a:t>
            </a:r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Global team leadership across Europe &amp; India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96A5"/>
                </a:solidFill>
                <a:latin typeface="Aptos"/>
              </a:rPr>
              <a:t>SELECTED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37360"/>
            <a:ext cx="5074920" cy="1118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rPr dirty="0"/>
              <a:t>• </a:t>
            </a:r>
            <a:r>
              <a:rPr lang="en-US" dirty="0" smtClean="0"/>
              <a:t>G</a:t>
            </a:r>
            <a:r>
              <a:rPr dirty="0" smtClean="0"/>
              <a:t>lobal </a:t>
            </a:r>
            <a:r>
              <a:rPr dirty="0"/>
              <a:t>procurement spend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rPr dirty="0"/>
              <a:t>• </a:t>
            </a:r>
            <a:r>
              <a:rPr lang="en-US" dirty="0"/>
              <a:t> </a:t>
            </a:r>
            <a:r>
              <a:rPr dirty="0" err="1" smtClean="0"/>
              <a:t>YoY</a:t>
            </a:r>
            <a:r>
              <a:rPr dirty="0" smtClean="0"/>
              <a:t> </a:t>
            </a:r>
            <a:r>
              <a:rPr dirty="0"/>
              <a:t>MATEX savings responsibility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rPr dirty="0"/>
              <a:t>• Strategic sourcing &amp; commodity strategy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rPr dirty="0"/>
              <a:t>• Risk mitigation and supply continuity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rPr dirty="0"/>
              <a:t>• Supplier selection &amp;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E7882"/>
                </a:solidFill>
                <a:latin typeface="Aptos"/>
              </a:rPr>
              <a:t>SACHIN BAGUL  |  PROCUREMENT • PRICING • COMMERCIAL EXCELLENCE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55664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E7882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2540"/>
                </a:solidFill>
                <a:latin typeface="Aptos"/>
              </a:rPr>
              <a:t>PROFILE 02 | GLOBAL PRICING &amp; COMMERCIAL EXCELLENCE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51560" cy="45720"/>
          </a:xfrm>
          <a:prstGeom prst="rect">
            <a:avLst/>
          </a:prstGeom>
          <a:solidFill>
            <a:srgbClr val="009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0070C0"/>
                </a:solidFill>
              </a:rPr>
              <a:t>Global Pricing Manager experience: June 2023 – October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0823C"/>
                </a:solidFill>
                <a:latin typeface="Aptos"/>
              </a:rPr>
              <a:t>WHAT I DELIVERED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Value-based &amp; transactional pricing</a:t>
            </a:r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Inflation recovery: raw material, energy, freight, FX &amp; volume</a:t>
            </a:r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Customer price negotiations</a:t>
            </a:r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Pricing governance, DOA, contracts &amp; audits</a:t>
            </a:r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P&amp;L analysis and executive dashboards</a:t>
            </a:r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SAP pricing validation and data integrity</a:t>
            </a:r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Pricing digitization &amp; process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96A5"/>
                </a:solidFill>
                <a:latin typeface="Aptos"/>
              </a:rPr>
              <a:t>SELECTED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37360"/>
            <a:ext cx="5074920" cy="1118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rPr dirty="0"/>
              <a:t>• </a:t>
            </a:r>
            <a:r>
              <a:rPr lang="en-US" dirty="0" smtClean="0"/>
              <a:t> P</a:t>
            </a:r>
            <a:r>
              <a:rPr dirty="0" smtClean="0"/>
              <a:t>ricing </a:t>
            </a:r>
            <a:r>
              <a:rPr dirty="0"/>
              <a:t>revenue generation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rPr dirty="0" smtClean="0"/>
              <a:t>•</a:t>
            </a:r>
            <a:r>
              <a:rPr lang="en-US" dirty="0" smtClean="0"/>
              <a:t>  </a:t>
            </a:r>
            <a:r>
              <a:rPr dirty="0" smtClean="0"/>
              <a:t>RDE </a:t>
            </a:r>
            <a:r>
              <a:rPr dirty="0"/>
              <a:t>cost recovery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rPr dirty="0"/>
              <a:t>• </a:t>
            </a:r>
            <a:r>
              <a:rPr lang="en-US" dirty="0" smtClean="0"/>
              <a:t> </a:t>
            </a:r>
            <a:r>
              <a:rPr dirty="0" smtClean="0"/>
              <a:t>Margin </a:t>
            </a:r>
            <a:r>
              <a:rPr dirty="0"/>
              <a:t>improvement &amp; leakage prevention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rPr dirty="0"/>
              <a:t>• </a:t>
            </a:r>
            <a:r>
              <a:rPr lang="en-US" dirty="0" smtClean="0"/>
              <a:t> </a:t>
            </a:r>
            <a:r>
              <a:rPr dirty="0" smtClean="0"/>
              <a:t>Commercial </a:t>
            </a:r>
            <a:r>
              <a:rPr dirty="0"/>
              <a:t>analytics and governance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rPr dirty="0"/>
              <a:t>• </a:t>
            </a:r>
            <a:r>
              <a:rPr lang="en-US" dirty="0" smtClean="0"/>
              <a:t> </a:t>
            </a:r>
            <a:r>
              <a:rPr dirty="0" smtClean="0"/>
              <a:t>Quarterly </a:t>
            </a:r>
            <a:r>
              <a:rPr dirty="0"/>
              <a:t>AOP revenue &amp; profitability 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E7882"/>
                </a:solidFill>
                <a:latin typeface="Aptos"/>
              </a:rPr>
              <a:t>SACHIN BAGUL  |  PROCUREMENT • PRICING • COMMERCIAL EXCELLENCE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55664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E7882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2540"/>
                </a:solidFill>
                <a:latin typeface="Aptos"/>
              </a:rPr>
              <a:t>VALUE ENGINEERING &amp; RE-SOURCING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51560" cy="45720"/>
          </a:xfrm>
          <a:prstGeom prst="rect">
            <a:avLst/>
          </a:prstGeom>
          <a:solidFill>
            <a:srgbClr val="009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dirty="0">
                <a:solidFill>
                  <a:srgbClr val="0070C0"/>
                </a:solidFill>
              </a:rPr>
              <a:t>Global portfolio across Asia, Europe, North America and Brazil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96A5"/>
                </a:solidFill>
                <a:latin typeface="Aptos"/>
              </a:rPr>
              <a:t>END-TO-END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Opportunity identification</a:t>
            </a:r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Payback / NPV / ROI / TCO business cases</a:t>
            </a:r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Supplier selection &amp; sourcing</a:t>
            </a:r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Localization / Make vs Buy</a:t>
            </a:r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Customer implementation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96A5"/>
                </a:solidFill>
                <a:latin typeface="Aptos"/>
              </a:rPr>
              <a:t>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37360"/>
            <a:ext cx="5074920" cy="1118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rPr dirty="0"/>
              <a:t>• </a:t>
            </a:r>
            <a:r>
              <a:rPr lang="en-US" dirty="0"/>
              <a:t> </a:t>
            </a:r>
            <a:r>
              <a:rPr dirty="0" smtClean="0"/>
              <a:t>MATEX </a:t>
            </a:r>
            <a:r>
              <a:rPr dirty="0"/>
              <a:t>savings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rPr dirty="0"/>
              <a:t>• 150+ cross-functional projects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rPr dirty="0"/>
              <a:t>• India for India / China for China / E2W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rPr dirty="0"/>
              <a:t>• Alternate material, process &amp; design optimization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rPr dirty="0"/>
              <a:t>• Strategic supplier negotiations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E7882"/>
                </a:solidFill>
                <a:latin typeface="Aptos"/>
              </a:rPr>
              <a:t>SACHIN BAGUL  |  PROCUREMENT • PRICING • COMMERCIAL EXCELLENCE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55664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E7882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2540"/>
                </a:solidFill>
                <a:latin typeface="Aptos"/>
              </a:rPr>
              <a:t>SELECTED BUSINESS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51560" cy="45720"/>
          </a:xfrm>
          <a:prstGeom prst="rect">
            <a:avLst/>
          </a:prstGeom>
          <a:solidFill>
            <a:srgbClr val="009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0070C0"/>
                </a:solidFill>
              </a:rPr>
              <a:t>Quantified scale from procurement, pricing and VE/R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D62AA"/>
                </a:solidFill>
                <a:latin typeface="Aptos"/>
              </a:rPr>
              <a:t>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212080" cy="1474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rPr dirty="0"/>
              <a:t>• </a:t>
            </a:r>
            <a:r>
              <a:rPr lang="en-US" dirty="0" smtClean="0"/>
              <a:t>P</a:t>
            </a:r>
            <a:r>
              <a:rPr dirty="0" smtClean="0"/>
              <a:t>rocurement </a:t>
            </a:r>
            <a:r>
              <a:rPr dirty="0" smtClean="0"/>
              <a:t>spend</a:t>
            </a:r>
            <a:r>
              <a:rPr lang="en-US" dirty="0" smtClean="0"/>
              <a:t> Management</a:t>
            </a:r>
            <a:endParaRPr dirty="0"/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rPr dirty="0"/>
              <a:t>• </a:t>
            </a:r>
            <a:r>
              <a:rPr lang="en-US" dirty="0" smtClean="0"/>
              <a:t>P</a:t>
            </a:r>
            <a:r>
              <a:rPr dirty="0" smtClean="0"/>
              <a:t>ricing </a:t>
            </a:r>
            <a:r>
              <a:rPr dirty="0"/>
              <a:t>revenue generation</a:t>
            </a:r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rPr dirty="0"/>
              <a:t>• </a:t>
            </a:r>
            <a:r>
              <a:rPr dirty="0" smtClean="0"/>
              <a:t>RDE </a:t>
            </a:r>
            <a:r>
              <a:rPr dirty="0"/>
              <a:t>cost </a:t>
            </a:r>
            <a:r>
              <a:rPr dirty="0" smtClean="0"/>
              <a:t>recovery</a:t>
            </a:r>
            <a:endParaRPr lang="en-US" dirty="0" smtClean="0"/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rPr lang="en-US" dirty="0"/>
              <a:t>• </a:t>
            </a:r>
            <a:r>
              <a:rPr lang="en-US" dirty="0" smtClean="0"/>
              <a:t>Inflation recovery </a:t>
            </a:r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rPr lang="en-US" dirty="0"/>
              <a:t>• </a:t>
            </a:r>
            <a:r>
              <a:rPr lang="en-US" dirty="0" smtClean="0"/>
              <a:t>Value </a:t>
            </a:r>
            <a:r>
              <a:rPr lang="en-US" dirty="0" err="1" smtClean="0"/>
              <a:t>Enggineering</a:t>
            </a:r>
            <a:r>
              <a:rPr lang="en-US" dirty="0" smtClean="0"/>
              <a:t> &amp; Re-sourcing </a:t>
            </a:r>
            <a:endParaRPr lang="en-US" dirty="0"/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617220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96A5"/>
                </a:solidFill>
                <a:latin typeface="Aptos"/>
              </a:rPr>
              <a:t>TRANSFORMATION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37360"/>
            <a:ext cx="5074920" cy="682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rPr dirty="0"/>
              <a:t>• </a:t>
            </a:r>
            <a:r>
              <a:rPr lang="en-US" dirty="0" smtClean="0"/>
              <a:t> </a:t>
            </a:r>
            <a:r>
              <a:rPr dirty="0" err="1" smtClean="0"/>
              <a:t>YoY</a:t>
            </a:r>
            <a:r>
              <a:rPr dirty="0" smtClean="0"/>
              <a:t> </a:t>
            </a:r>
            <a:r>
              <a:rPr dirty="0"/>
              <a:t>MATEX savings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rPr dirty="0"/>
              <a:t>• </a:t>
            </a:r>
            <a:r>
              <a:rPr lang="en-US" dirty="0"/>
              <a:t> </a:t>
            </a:r>
            <a:r>
              <a:rPr dirty="0" smtClean="0"/>
              <a:t>VE/R </a:t>
            </a:r>
            <a:r>
              <a:rPr dirty="0"/>
              <a:t>MATEX savings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rPr dirty="0"/>
              <a:t>• 150+ projects managed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E7882"/>
                </a:solidFill>
                <a:latin typeface="Aptos"/>
              </a:rPr>
              <a:t>SACHIN BAGUL  |  PROCUREMENT • PRICING • COMMERCIAL EXCELLENCE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55664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E7882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2540"/>
                </a:solidFill>
                <a:latin typeface="Aptos"/>
              </a:rPr>
              <a:t>LEADERSHIP, DIGITAL &amp; BUSINESS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51560" cy="45720"/>
          </a:xfrm>
          <a:prstGeom prst="rect">
            <a:avLst/>
          </a:prstGeom>
          <a:solidFill>
            <a:srgbClr val="009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dirty="0">
                <a:solidFill>
                  <a:srgbClr val="0070C0"/>
                </a:solidFill>
              </a:rPr>
              <a:t>Data-backed decisions, governance and cross-functional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96A5"/>
                </a:solidFill>
                <a:latin typeface="Aptos"/>
              </a:rPr>
              <a:t>LEADERSHIP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Global team leadership</a:t>
            </a:r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Cross-functional influence</a:t>
            </a:r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Supplier relationship management</a:t>
            </a:r>
          </a:p>
          <a:p>
            <a:pPr>
              <a:spcAft>
                <a:spcPts val="500"/>
              </a:spcAft>
              <a:defRPr sz="1150">
                <a:solidFill>
                  <a:srgbClr val="303942"/>
                </a:solidFill>
                <a:latin typeface="Aptos"/>
              </a:defRPr>
            </a:pPr>
            <a:r>
              <a:t>• Executive reviews &amp; AOP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96A5"/>
                </a:solidFill>
                <a:latin typeface="Aptos"/>
              </a:rPr>
              <a:t>DIGITAL + BUSINESS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37360"/>
            <a:ext cx="5074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t>• SAP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t>• Ariba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t>• Coupa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t>• Salesforce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t>• Power BI / data analytics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t>• P&amp;L oversight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t>• ROI / NPV / Payback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t>• Audit &amp; compliance</a:t>
            </a:r>
          </a:p>
          <a:p>
            <a:pPr>
              <a:spcAft>
                <a:spcPts val="500"/>
              </a:spcAft>
              <a:defRPr sz="1000">
                <a:solidFill>
                  <a:srgbClr val="303942"/>
                </a:solidFill>
                <a:latin typeface="Aptos"/>
              </a:defRPr>
            </a:pPr>
            <a:r>
              <a:t>• Risk mitigation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E7882"/>
                </a:solidFill>
                <a:latin typeface="Aptos"/>
              </a:rPr>
              <a:t>SACHIN BAGUL  |  PROCUREMENT • PRICING • COMMERCIAL EXCELLENCE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55664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E7882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WHY THIS PROFILE IS DIFFERENT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2560320" cy="3337560"/>
          </a:xfrm>
          <a:prstGeom prst="roundRect">
            <a:avLst/>
          </a:prstGeom>
          <a:solidFill>
            <a:srgbClr val="183753"/>
          </a:solidFill>
          <a:ln>
            <a:solidFill>
              <a:srgbClr val="469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75DCE0"/>
                </a:solidFill>
                <a:latin typeface="Aptos"/>
              </a:rPr>
              <a:t>COST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6888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FFFFFF"/>
                </a:solidFill>
                <a:latin typeface="Aptos"/>
              </a:rPr>
              <a:t>Supplier economics, should-cost, commodity and TCO.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17320"/>
            <a:ext cx="2560320" cy="3337560"/>
          </a:xfrm>
          <a:prstGeom prst="roundRect">
            <a:avLst/>
          </a:prstGeom>
          <a:solidFill>
            <a:srgbClr val="183753"/>
          </a:solidFill>
          <a:ln>
            <a:solidFill>
              <a:srgbClr val="469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0" y="1783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75DCE0"/>
                </a:solidFill>
                <a:latin typeface="Aptos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246888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FFFFFF"/>
                </a:solidFill>
                <a:latin typeface="Aptos"/>
              </a:rPr>
              <a:t>Engineering and sourcing opportunities into business cases.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417320"/>
            <a:ext cx="2560320" cy="3337560"/>
          </a:xfrm>
          <a:prstGeom prst="roundRect">
            <a:avLst/>
          </a:prstGeom>
          <a:solidFill>
            <a:srgbClr val="183753"/>
          </a:solidFill>
          <a:ln>
            <a:solidFill>
              <a:srgbClr val="469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1783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75DCE0"/>
                </a:solidFill>
                <a:latin typeface="Aptos"/>
              </a:rPr>
              <a:t>PRICE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46888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FFFFFF"/>
                </a:solidFill>
                <a:latin typeface="Aptos"/>
              </a:rPr>
              <a:t>Cost and customer value into disciplined pricing actions.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1417320"/>
            <a:ext cx="2560320" cy="3337560"/>
          </a:xfrm>
          <a:prstGeom prst="roundRect">
            <a:avLst/>
          </a:prstGeom>
          <a:solidFill>
            <a:srgbClr val="183753"/>
          </a:solidFill>
          <a:ln>
            <a:solidFill>
              <a:srgbClr val="469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19" y="1783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75DCE0"/>
                </a:solidFill>
                <a:latin typeface="Aptos"/>
              </a:rP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46888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FFFFFF"/>
                </a:solidFill>
                <a:latin typeface="Aptos"/>
              </a:rPr>
              <a:t>Profitability through governance, P&amp;L and leakage controls.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COST  →  VALUE  →  PRICE  →  MARGIN  →  PROFITABLE GROWTH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E7882"/>
                </a:solidFill>
                <a:latin typeface="Aptos"/>
              </a:rPr>
              <a:t>SACHIN BAGUL  |  PROCUREMENT • PRICING • COMMERCIAL EXCELLENCE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55664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E7882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2540"/>
                </a:solidFill>
                <a:latin typeface="Aptos"/>
              </a:rPr>
              <a:t>TARGET OPPORTUNITIES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51560" cy="45720"/>
          </a:xfrm>
          <a:prstGeom prst="rect">
            <a:avLst/>
          </a:prstGeom>
          <a:solidFill>
            <a:srgbClr val="009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0070C0"/>
                </a:solidFill>
              </a:rPr>
              <a:t>Open to </a:t>
            </a:r>
            <a:r>
              <a:rPr lang="en-US" sz="1100" b="1" dirty="0" smtClean="0">
                <a:solidFill>
                  <a:srgbClr val="0070C0"/>
                </a:solidFill>
              </a:rPr>
              <a:t>S</a:t>
            </a:r>
            <a:r>
              <a:rPr sz="1100" b="1" dirty="0" smtClean="0">
                <a:solidFill>
                  <a:srgbClr val="0070C0"/>
                </a:solidFill>
              </a:rPr>
              <a:t>enior </a:t>
            </a:r>
            <a:r>
              <a:rPr sz="1100" b="1" dirty="0">
                <a:solidFill>
                  <a:srgbClr val="0070C0"/>
                </a:solidFill>
              </a:rPr>
              <a:t>international opportunities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337560" cy="3566160"/>
          </a:xfrm>
          <a:prstGeom prst="roundRect">
            <a:avLst/>
          </a:prstGeom>
          <a:solidFill>
            <a:srgbClr val="F2F6F9"/>
          </a:solidFill>
          <a:ln>
            <a:solidFill>
              <a:srgbClr val="2D6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D62AA"/>
                </a:solidFill>
                <a:latin typeface="Aptos"/>
              </a:rPr>
              <a:t>PROCUREMENT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60320"/>
            <a:ext cx="2697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dirty="0"/>
              <a:t>Global Procurement Manager</a:t>
            </a:r>
            <a:br>
              <a:rPr dirty="0"/>
            </a:br>
            <a:r>
              <a:rPr dirty="0"/>
              <a:t>Global Commodity Manager</a:t>
            </a:r>
            <a:br>
              <a:rPr dirty="0"/>
            </a:br>
            <a:r>
              <a:rPr dirty="0"/>
              <a:t>Strategic Sourcing</a:t>
            </a:r>
            <a:br>
              <a:rPr dirty="0"/>
            </a:br>
            <a:r>
              <a:rPr dirty="0"/>
              <a:t>Procurement Excellence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417320"/>
            <a:ext cx="3337560" cy="3566160"/>
          </a:xfrm>
          <a:prstGeom prst="roundRect">
            <a:avLst/>
          </a:prstGeom>
          <a:solidFill>
            <a:srgbClr val="F2F6F9"/>
          </a:solidFill>
          <a:ln>
            <a:solidFill>
              <a:srgbClr val="E0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1783080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0823C"/>
                </a:solidFill>
                <a:latin typeface="Aptos"/>
              </a:rPr>
              <a:t>COMMERCIAL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599" y="2560320"/>
            <a:ext cx="26974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dirty="0"/>
              <a:t>Global Pricing Manager</a:t>
            </a:r>
            <a:br>
              <a:rPr dirty="0"/>
            </a:br>
            <a:r>
              <a:rPr dirty="0"/>
              <a:t>Commercial Excellence</a:t>
            </a:r>
            <a:br>
              <a:rPr dirty="0"/>
            </a:br>
            <a:r>
              <a:rPr dirty="0"/>
              <a:t>Pricing Strategy / Governance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417320"/>
            <a:ext cx="3337560" cy="3566160"/>
          </a:xfrm>
          <a:prstGeom prst="roundRect">
            <a:avLst/>
          </a:prstGeom>
          <a:solidFill>
            <a:srgbClr val="F2F6F9"/>
          </a:solidFill>
          <a:ln>
            <a:solidFill>
              <a:srgbClr val="0096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1783080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96A5"/>
                </a:solidFill>
                <a:latin typeface="Aptos"/>
              </a:rPr>
              <a:t>TRANSFORMATION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2560320"/>
            <a:ext cx="26974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dirty="0"/>
              <a:t>VE / Re-sourcing</a:t>
            </a:r>
            <a:br>
              <a:rPr dirty="0"/>
            </a:br>
            <a:r>
              <a:rPr dirty="0"/>
              <a:t>Cost Transformation</a:t>
            </a:r>
            <a:br>
              <a:rPr dirty="0"/>
            </a:br>
            <a:r>
              <a:rPr dirty="0"/>
              <a:t>Global Program Leadership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C2540"/>
                </a:solidFill>
                <a:latin typeface="Aptos"/>
              </a:rPr>
              <a:t>Preferred market focus: Czech Republic • Europe • North America | Open to relocation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E7882"/>
                </a:solidFill>
                <a:latin typeface="Aptos"/>
              </a:rPr>
              <a:t>SACHIN BAGUL  |  PROCUREMENT • PRICING • COMMERCIAL EXCELLENCE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55664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E7882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"/>
              </a:rPr>
              <a:t>LET'S 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" b="1">
                <a:solidFill>
                  <a:srgbClr val="75DCE0"/>
                </a:solidFill>
                <a:latin typeface="Aptos"/>
              </a:rPr>
              <a:t>Sachin Bagul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ptos"/>
              </a:rPr>
              <a:t>Global Procurement &amp; Strategic Sourcing | Global Pricing &amp; Commercial Excellence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887" y="2495006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Aptos"/>
              </a:rPr>
              <a:t>sachinbagul@gmail.com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78331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Aptos"/>
              </a:rPr>
              <a:t>linkedin.com/in/</a:t>
            </a:r>
            <a:r>
              <a:rPr sz="1300" b="1" dirty="0" err="1">
                <a:solidFill>
                  <a:srgbClr val="FFFFFF"/>
                </a:solidFill>
                <a:latin typeface="Aptos"/>
              </a:rPr>
              <a:t>sachinbagul</a:t>
            </a:r>
            <a:endParaRPr sz="13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85800" y="578249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FFFFFF"/>
                </a:solidFill>
                <a:latin typeface="Aptos"/>
              </a:rPr>
              <a:t>Thank you for your time and consideration.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E7882"/>
                </a:solidFill>
                <a:latin typeface="Aptos"/>
              </a:rPr>
              <a:t>SACHIN BAGUL  |  PROCUREMENT • PRICING • COMMERCIAL EXCELLENCE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55664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E7882"/>
                </a:solidFill>
                <a:latin typeface="Aptos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287" y="3429000"/>
            <a:ext cx="107899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b="1" dirty="0" smtClean="0">
                <a:solidFill>
                  <a:srgbClr val="FFFFFF"/>
                </a:solidFill>
                <a:latin typeface="Aptos"/>
              </a:rPr>
              <a:t>Mb No: 9890 82 2329 </a:t>
            </a:r>
            <a:endParaRPr sz="1300" b="1" dirty="0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1197</Words>
  <Application>Microsoft Office PowerPoint</Application>
  <PresentationFormat>Custom</PresentationFormat>
  <Paragraphs>219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dc:description>generated using python-pptx</dc:description>
  <cp:lastModifiedBy>HP</cp:lastModifiedBy>
  <cp:revision>7</cp:revision>
  <dcterms:created xsi:type="dcterms:W3CDTF">2013-01-27T09:14:16Z</dcterms:created>
  <dcterms:modified xsi:type="dcterms:W3CDTF">2026-09-04T18:07:37Z</dcterms:modified>
</cp:coreProperties>
</file>