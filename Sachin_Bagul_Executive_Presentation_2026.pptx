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-408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SACHIN BAGUL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5DCE0"/>
                </a:solidFill>
                <a:latin typeface="Aptos"/>
              </a:rPr>
              <a:t>Global Procurement &amp; Pricing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FFFFFF"/>
                </a:solidFill>
                <a:latin typeface="Aptos"/>
              </a:rPr>
              <a:t>18+ Years | Automotive &amp; Industrial | Strategic Sourcing | Commercial Excellence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1874519" cy="777240"/>
          </a:xfrm>
          <a:prstGeom prst="round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1363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971800"/>
            <a:ext cx="1874519" cy="777240"/>
          </a:xfrm>
          <a:prstGeom prst="round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31363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971800"/>
            <a:ext cx="1874519" cy="777240"/>
          </a:xfrm>
          <a:prstGeom prst="roundRect">
            <a:avLst/>
          </a:prstGeom>
          <a:solidFill>
            <a:srgbClr val="E0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31363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0" y="2971800"/>
            <a:ext cx="1874519" cy="777240"/>
          </a:xfrm>
          <a:prstGeom prst="round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800" y="3136392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3172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971800"/>
            <a:ext cx="1874519" cy="777240"/>
          </a:xfrm>
          <a:prstGeom prst="roundRect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0" y="3136392"/>
            <a:ext cx="1783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PROFITABLE</a:t>
            </a:r>
            <a:r>
              <a:rPr dirty="0"/>
              <a:t/>
            </a:r>
            <a:br>
              <a:rPr dirty="0"/>
            </a:br>
            <a:r>
              <a:rPr b="1" dirty="0">
                <a:solidFill>
                  <a:schemeClr val="bg1"/>
                </a:solidFill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519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TWO COMPLEMENTARY EXECUTIVE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521208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u="sng" dirty="0">
                <a:solidFill>
                  <a:srgbClr val="FFFFFF"/>
                </a:solidFill>
                <a:latin typeface="Aptos"/>
              </a:rPr>
              <a:t>GLOBAL PROCUREMENT</a:t>
            </a:r>
            <a:r>
              <a:rPr b="1" u="sng" dirty="0"/>
              <a:t/>
            </a:r>
            <a:br>
              <a:rPr b="1" u="sng" dirty="0"/>
            </a:br>
            <a:r>
              <a:rPr dirty="0">
                <a:solidFill>
                  <a:schemeClr val="bg1">
                    <a:lumMod val="65000"/>
                  </a:schemeClr>
                </a:solidFill>
              </a:rPr>
              <a:t>Strategic Sourcing • Commodity • Supplier • Cost Transformation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09160"/>
            <a:ext cx="521208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u="sng" dirty="0">
                <a:solidFill>
                  <a:srgbClr val="FFFFFF"/>
                </a:solidFill>
                <a:latin typeface="Aptos"/>
              </a:rPr>
              <a:t>GLOBAL PRICING</a:t>
            </a:r>
            <a:r>
              <a:rPr b="1" u="sng" dirty="0"/>
              <a:t/>
            </a:r>
            <a:br>
              <a:rPr b="1" u="sng" dirty="0"/>
            </a:br>
            <a:r>
              <a:rPr dirty="0" err="1">
                <a:solidFill>
                  <a:schemeClr val="bg1">
                    <a:lumMod val="65000"/>
                  </a:schemeClr>
                </a:solidFill>
              </a:rPr>
              <a:t>Pricing</a:t>
            </a:r>
            <a:r>
              <a:rPr dirty="0">
                <a:solidFill>
                  <a:schemeClr val="bg1">
                    <a:lumMod val="65000"/>
                  </a:schemeClr>
                </a:solidFill>
              </a:rPr>
              <a:t> Strategy • Inflation Recovery • P&amp;L • Commercial Excellence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80760"/>
            <a:ext cx="10789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b="0" dirty="0" smtClean="0">
                <a:solidFill>
                  <a:srgbClr val="D2DCE6"/>
                </a:solidFill>
                <a:latin typeface="Aptos"/>
              </a:rPr>
              <a:t>Mb No / What’s up : 9890 82 2329 | </a:t>
            </a:r>
            <a:r>
              <a:rPr sz="900" b="0" dirty="0" smtClean="0">
                <a:solidFill>
                  <a:srgbClr val="D2DCE6"/>
                </a:solidFill>
                <a:latin typeface="Aptos"/>
              </a:rPr>
              <a:t>sachinbagul@gmail.com  </a:t>
            </a:r>
            <a:r>
              <a:rPr sz="900" b="0" dirty="0">
                <a:solidFill>
                  <a:srgbClr val="D2DCE6"/>
                </a:solidFill>
                <a:latin typeface="Aptos"/>
              </a:rPr>
              <a:t>|  linkedin.com/in/</a:t>
            </a:r>
            <a:r>
              <a:rPr sz="900" b="0" dirty="0" err="1">
                <a:solidFill>
                  <a:srgbClr val="D2DCE6"/>
                </a:solidFill>
                <a:latin typeface="Aptos"/>
              </a:rPr>
              <a:t>sachinbagul</a:t>
            </a:r>
            <a:endParaRPr sz="900" b="0" dirty="0">
              <a:solidFill>
                <a:srgbClr val="D2DCE6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C2540"/>
                </a:solidFill>
                <a:latin typeface="Aptos"/>
              </a:rPr>
              <a:t>CAREER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0070C0"/>
                </a:solidFill>
              </a:rPr>
              <a:t>18+ Years </a:t>
            </a:r>
            <a:r>
              <a:rPr lang="en-US" sz="1100" b="1" dirty="0" err="1" smtClean="0">
                <a:solidFill>
                  <a:srgbClr val="0070C0"/>
                </a:solidFill>
              </a:rPr>
              <a:t>Exp</a:t>
            </a:r>
            <a:r>
              <a:rPr lang="en-US" sz="1100" b="1" dirty="0" smtClean="0">
                <a:solidFill>
                  <a:srgbClr val="0070C0"/>
                </a:solidFill>
              </a:rPr>
              <a:t> | Global </a:t>
            </a:r>
            <a:r>
              <a:rPr lang="en-US" sz="1100" b="1" dirty="0">
                <a:solidFill>
                  <a:srgbClr val="0070C0"/>
                </a:solidFill>
              </a:rPr>
              <a:t>Pricing &amp; Commercial Excellence Leader | Pricing Strategy | Revenue Growth | Margin Optimization | Commercial Negotiations | Value </a:t>
            </a:r>
            <a:r>
              <a:rPr lang="en-US" sz="1100" b="1" dirty="0" err="1" smtClean="0">
                <a:solidFill>
                  <a:srgbClr val="0070C0"/>
                </a:solidFill>
              </a:rPr>
              <a:t>Engg</a:t>
            </a:r>
            <a:r>
              <a:rPr lang="en-US" sz="1100" b="1" dirty="0" smtClean="0">
                <a:solidFill>
                  <a:srgbClr val="0070C0"/>
                </a:solidFill>
              </a:rPr>
              <a:t>| </a:t>
            </a:r>
            <a:r>
              <a:rPr lang="en-US" sz="1100" b="1" dirty="0">
                <a:solidFill>
                  <a:srgbClr val="0070C0"/>
                </a:solidFill>
              </a:rPr>
              <a:t>Strategic Sourcing</a:t>
            </a:r>
            <a:endParaRPr sz="1100" b="1" dirty="0">
              <a:solidFill>
                <a:srgbClr val="0070C0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0789920" cy="36576"/>
          </a:xfrm>
          <a:prstGeom prst="rect">
            <a:avLst/>
          </a:prstGeom>
          <a:solidFill>
            <a:srgbClr val="6E78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15568" y="1627632"/>
            <a:ext cx="256032" cy="256032"/>
          </a:xfrm>
          <a:prstGeom prst="ellipse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2006–2007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dirty="0">
                <a:solidFill>
                  <a:srgbClr val="0C2540"/>
                </a:solidFill>
                <a:latin typeface="Aptos"/>
              </a:rPr>
              <a:t>Mahindra </a:t>
            </a:r>
            <a:r>
              <a:rPr sz="850" b="1" dirty="0" err="1">
                <a:solidFill>
                  <a:srgbClr val="0C2540"/>
                </a:solidFill>
                <a:latin typeface="Aptos"/>
              </a:rPr>
              <a:t>Ugine</a:t>
            </a:r>
            <a:r>
              <a:rPr sz="850" b="1" dirty="0">
                <a:solidFill>
                  <a:srgbClr val="0C2540"/>
                </a:solidFill>
                <a:latin typeface="Aptos"/>
              </a:rPr>
              <a:t> Steel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 dirty="0">
                <a:solidFill>
                  <a:srgbClr val="303942"/>
                </a:solidFill>
                <a:latin typeface="Aptos"/>
              </a:rPr>
              <a:t>Graduate Engineering Trainee – Direct 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2984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Stamping &amp; sheet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M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etal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 Parts</a:t>
            </a:r>
          </a:p>
          <a:p>
            <a:pPr algn="ctr"/>
            <a:endParaRPr lang="en-US"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  <a:p>
            <a:pPr algn="ctr"/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2560320" y="1627632"/>
            <a:ext cx="256032" cy="256032"/>
          </a:xfrm>
          <a:prstGeom prst="ellipse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39112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2007–2008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dirty="0">
                <a:solidFill>
                  <a:srgbClr val="0C2540"/>
                </a:solidFill>
                <a:latin typeface="Aptos"/>
              </a:rPr>
              <a:t>TATA Motors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 dirty="0">
                <a:solidFill>
                  <a:srgbClr val="303942"/>
                </a:solidFill>
                <a:latin typeface="Aptos"/>
              </a:rPr>
              <a:t>Service Support Engineer – Indirect Procurement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9112" y="3246120"/>
            <a:ext cx="12984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Capital items,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M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achinery 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&amp;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S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ervices</a:t>
            </a:r>
            <a:endParaRPr lang="en-US" sz="800" b="1" dirty="0" smtClean="0">
              <a:solidFill>
                <a:schemeClr val="accent6">
                  <a:lumMod val="50000"/>
                </a:schemeClr>
              </a:solidFill>
              <a:latin typeface="Aptos"/>
            </a:endParaRPr>
          </a:p>
          <a:p>
            <a:pPr algn="ctr"/>
            <a:endParaRPr lang="en-US"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  <a:p>
            <a:pPr algn="ctr"/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005072" y="1627632"/>
            <a:ext cx="256032" cy="256032"/>
          </a:xfrm>
          <a:prstGeom prst="ellipse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83864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2008–2011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Larsen &amp; Toubro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942"/>
                </a:solidFill>
                <a:latin typeface="Aptos"/>
              </a:rPr>
              <a:t>Sr. Engineer / Asst. Manager – Procurement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246120"/>
            <a:ext cx="1298448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Indirect +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D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irect 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material / project 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procurement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RM Copper, Silver Procurement 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449824" y="1627632"/>
            <a:ext cx="256032" cy="256032"/>
          </a:xfrm>
          <a:prstGeom prst="ellipse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28616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2011–2014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Honeywell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28616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942"/>
                </a:solidFill>
                <a:latin typeface="Aptos"/>
              </a:rPr>
              <a:t>Supply Base Analyst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246120"/>
            <a:ext cx="12984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MATEX, spend analysis &amp; SAP master 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data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PO &amp; Info Record </a:t>
            </a:r>
            <a:r>
              <a:rPr lang="en-US" sz="800" b="1" dirty="0" err="1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updation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894576" y="1627632"/>
            <a:ext cx="256032" cy="256032"/>
          </a:xfrm>
          <a:prstGeom prst="ellipse">
            <a:avLst/>
          </a:prstGeom>
          <a:solidFill>
            <a:srgbClr val="2D6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3368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2014–2018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Honeywell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246120"/>
            <a:ext cx="1298448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Strategic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S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ourcing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,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S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upplier 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negotiations &amp; 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NPI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India </a:t>
            </a:r>
            <a:r>
              <a:rPr lang="en-US" sz="800" b="1" dirty="0" err="1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Matex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 Leader , Casting &amp; Machinin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g Commodity 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339328" y="1627632"/>
            <a:ext cx="256032" cy="256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20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2018–2023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Garrett Advancing Motion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 dirty="0">
                <a:solidFill>
                  <a:srgbClr val="303942"/>
                </a:solidFill>
                <a:latin typeface="Aptos"/>
              </a:rPr>
              <a:t>Global VE / Re-Sourcing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246120"/>
            <a:ext cx="12984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VE, Re-sourcing, Make </a:t>
            </a:r>
            <a:r>
              <a:rPr sz="800" b="1" dirty="0" err="1">
                <a:solidFill>
                  <a:schemeClr val="accent6">
                    <a:lumMod val="50000"/>
                  </a:schemeClr>
                </a:solidFill>
                <a:latin typeface="Aptos"/>
              </a:rPr>
              <a:t>vs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 Buy &amp; 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MATEX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</a:t>
            </a:r>
          </a:p>
          <a:p>
            <a:pPr algn="ctr"/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Payback, ROI, Global Program Management 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784080" y="1627632"/>
            <a:ext cx="256032" cy="256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62872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2023–2025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Garrett Advancing 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942"/>
                </a:solidFill>
                <a:latin typeface="Aptos"/>
              </a:rPr>
              <a:t>Global Pricing Manager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2872" y="3246120"/>
            <a:ext cx="1298448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Global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P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ricing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,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I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nflation 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recovery &amp;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C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ommercial </a:t>
            </a:r>
            <a:r>
              <a:rPr lang="en-US"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G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overnance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Tariff , Finance Modeling 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1228832" y="1627632"/>
            <a:ext cx="256032" cy="256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707624" y="114300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03942"/>
                </a:solidFill>
                <a:latin typeface="Aptos"/>
              </a:rPr>
              <a:t>2025–Present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07624" y="2011680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C2540"/>
                </a:solidFill>
                <a:latin typeface="Aptos"/>
              </a:rPr>
              <a:t>Garrett Advancing Motion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07624" y="2542032"/>
            <a:ext cx="1298448" cy="6583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750" b="1">
                <a:solidFill>
                  <a:srgbClr val="303942"/>
                </a:solidFill>
                <a:latin typeface="Aptos"/>
              </a:rPr>
              <a:t>Global Commodity Manager – Actuation &amp; Sensing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07624" y="3246120"/>
            <a:ext cx="1298448" cy="5847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Global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s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ourcing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,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S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uppliers</a:t>
            </a:r>
            <a:r>
              <a:rPr sz="800" b="1" dirty="0">
                <a:solidFill>
                  <a:schemeClr val="accent6">
                    <a:lumMod val="50000"/>
                  </a:schemeClr>
                </a:solidFill>
                <a:latin typeface="Aptos"/>
              </a:rPr>
              <a:t>, MATEX &amp; 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R</a:t>
            </a:r>
            <a:r>
              <a:rPr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esilience</a:t>
            </a:r>
            <a:r>
              <a:rPr lang="en-US" sz="800" b="1" dirty="0" smtClean="0">
                <a:solidFill>
                  <a:schemeClr val="accent6">
                    <a:lumMod val="50000"/>
                  </a:schemeClr>
                </a:solidFill>
                <a:latin typeface="Aptos"/>
              </a:rPr>
              <a:t>, Actuation &amp; Sensing Commodity</a:t>
            </a:r>
            <a:endParaRPr sz="800" b="1" dirty="0">
              <a:solidFill>
                <a:schemeClr val="accent6">
                  <a:lumMod val="50000"/>
                </a:schemeClr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292608" y="4134401"/>
            <a:ext cx="365760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" y="41605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A5"/>
                </a:solidFill>
                <a:latin typeface="Aptos"/>
              </a:rPr>
              <a:t>CORE STRENGTHS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" y="45262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Global Strategic Sourcing &amp; Procurement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Global Supplier Management &amp; SRM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Commodity Price Forecasting &amp; Market Intelligence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Cost Modeling &amp; TCO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Contract Negotiation &amp; International T&amp;C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Risk Analysis &amp; Mitigation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3553" y="4134401"/>
            <a:ext cx="365760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43983" y="416052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A5"/>
                </a:solidFill>
                <a:latin typeface="Aptos"/>
              </a:rPr>
              <a:t>EDUCATION &amp; CERTIFICATION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3" y="452628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BE Mechanical Engineering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Diploma Mechanical Engineering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Six Sigma Core Green Belt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rPr dirty="0"/>
              <a:t>• Logistics &amp; Supply Chain Management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65008" y="4134401"/>
            <a:ext cx="3611880" cy="2148840"/>
          </a:xfrm>
          <a:prstGeom prst="roundRect">
            <a:avLst/>
          </a:prstGeom>
          <a:solidFill>
            <a:srgbClr val="F2F6F9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96A5"/>
                </a:solidFill>
                <a:latin typeface="Aptos"/>
              </a:rPr>
              <a:t>RECOGNITION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45262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t>• Garrett Bravo Platinum – VE/R savings &amp; profitability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t>• Garrett Bravo Gold – VE/RE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t>• Honeywell Bravo Gold – MATEX</a:t>
            </a:r>
          </a:p>
          <a:p>
            <a:pPr>
              <a:spcAft>
                <a:spcPts val="500"/>
              </a:spcAft>
              <a:defRPr sz="900">
                <a:solidFill>
                  <a:srgbClr val="303942"/>
                </a:solidFill>
                <a:latin typeface="Aptos"/>
              </a:defRPr>
            </a:pPr>
            <a:r>
              <a:t>• Honeywell Functional Excellence – Commercial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2543338"/>
            <a:ext cx="1298448" cy="669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750" b="1" dirty="0" smtClean="0">
                <a:solidFill>
                  <a:srgbClr val="303942"/>
                </a:solidFill>
                <a:latin typeface="Aptos"/>
              </a:rPr>
              <a:t>Procurement  </a:t>
            </a:r>
          </a:p>
          <a:p>
            <a:pPr algn="ctr"/>
            <a:r>
              <a:rPr lang="en-US" sz="750" b="1" dirty="0" smtClean="0">
                <a:solidFill>
                  <a:srgbClr val="303942"/>
                </a:solidFill>
                <a:latin typeface="Aptos"/>
              </a:rPr>
              <a:t>Manager</a:t>
            </a:r>
          </a:p>
          <a:p>
            <a:pPr algn="ctr"/>
            <a:endParaRPr lang="en-US" sz="750" b="1" dirty="0">
              <a:solidFill>
                <a:srgbClr val="303942"/>
              </a:solidFill>
              <a:latin typeface="Aptos"/>
            </a:endParaRPr>
          </a:p>
          <a:p>
            <a:pPr algn="ctr"/>
            <a:endParaRPr lang="en-US" sz="750" b="1" dirty="0" smtClean="0">
              <a:solidFill>
                <a:srgbClr val="303942"/>
              </a:solidFill>
              <a:latin typeface="Aptos"/>
            </a:endParaRPr>
          </a:p>
          <a:p>
            <a:pPr algn="ctr"/>
            <a:endParaRPr sz="750" b="1" dirty="0">
              <a:solidFill>
                <a:srgbClr val="303942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GLOBAL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Cross-regional leadership across the value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257800" cy="1691640"/>
          </a:xfrm>
          <a:prstGeom prst="roundRect">
            <a:avLst/>
          </a:prstGeom>
          <a:solidFill>
            <a:srgbClr val="F2F6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 smtClean="0">
                <a:solidFill>
                  <a:srgbClr val="0096A5"/>
                </a:solidFill>
                <a:latin typeface="Aptos"/>
              </a:rPr>
              <a:t>Team Leadership </a:t>
            </a:r>
            <a:endParaRPr sz="1500" b="1" dirty="0">
              <a:solidFill>
                <a:srgbClr val="0096A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4800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0C2540"/>
                </a:solidFill>
                <a:latin typeface="Aptos"/>
              </a:rPr>
              <a:t>Europe , India, China, North America </a:t>
            </a:r>
            <a:endParaRPr lang="en-US" sz="1000" b="1" dirty="0">
              <a:solidFill>
                <a:srgbClr val="0C2540"/>
              </a:solidFill>
              <a:latin typeface="Aptos"/>
            </a:endParaRPr>
          </a:p>
          <a:p>
            <a:pPr algn="l"/>
            <a:endParaRPr sz="1000" b="1" dirty="0">
              <a:solidFill>
                <a:srgbClr val="0C254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404872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I lead global, cross-functional teams by creating clarity, ownership and accountability — turning complex procurement and commercial challenges into measurable business results</a:t>
            </a:r>
            <a:endParaRPr sz="850" b="0" dirty="0">
              <a:solidFill>
                <a:srgbClr val="303942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57800" cy="1691640"/>
          </a:xfrm>
          <a:prstGeom prst="roundRect">
            <a:avLst/>
          </a:prstGeom>
          <a:solidFill>
            <a:srgbClr val="F2F6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 smtClean="0">
                <a:solidFill>
                  <a:srgbClr val="0096A5"/>
                </a:solidFill>
                <a:latin typeface="Aptos"/>
              </a:rPr>
              <a:t>Supplier Managed </a:t>
            </a:r>
            <a:endParaRPr sz="1500" b="1" dirty="0">
              <a:solidFill>
                <a:srgbClr val="0096A5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84248"/>
            <a:ext cx="4800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0C2540"/>
                </a:solidFill>
                <a:latin typeface="Aptos"/>
              </a:rPr>
              <a:t>Europe, India, China, Japan, South Korea, Vietnam, Brazil, North America </a:t>
            </a:r>
            <a:endParaRPr lang="en-US" sz="1000" b="1" dirty="0">
              <a:solidFill>
                <a:srgbClr val="0C254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2404872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I build supplier partnerships that go beyond price — creating sustainable value through performance, innovation, resilience and strategic collaboration.”</a:t>
            </a:r>
            <a:endParaRPr sz="850" b="0" dirty="0">
              <a:solidFill>
                <a:srgbClr val="303942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257800" cy="1691640"/>
          </a:xfrm>
          <a:prstGeom prst="roundRect">
            <a:avLst/>
          </a:prstGeom>
          <a:solidFill>
            <a:srgbClr val="F2F6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7033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 smtClean="0">
                <a:solidFill>
                  <a:srgbClr val="0096A5"/>
                </a:solidFill>
                <a:latin typeface="Aptos"/>
              </a:rPr>
              <a:t>Procurement </a:t>
            </a:r>
            <a:endParaRPr sz="1500" b="1" dirty="0">
              <a:solidFill>
                <a:srgbClr val="0096A5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133087"/>
            <a:ext cx="4800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dirty="0" smtClean="0">
                <a:solidFill>
                  <a:srgbClr val="0C2540"/>
                </a:solidFill>
                <a:latin typeface="Aptos"/>
              </a:rPr>
              <a:t>Direct / Indirect / Raw Material / Casting &amp; Machining / Electronics </a:t>
            </a:r>
            <a:endParaRPr sz="1000" b="1" dirty="0">
              <a:solidFill>
                <a:srgbClr val="0C254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End-to-end procurement leadership across Direct, Indirect, Raw Materials, Casting &amp; Machining and Electronics — transforming supplier spend into competitive advantage</a:t>
            </a:r>
            <a:endParaRPr sz="850" b="0" dirty="0">
              <a:solidFill>
                <a:srgbClr val="303942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257800" cy="1691640"/>
          </a:xfrm>
          <a:prstGeom prst="roundRect">
            <a:avLst/>
          </a:prstGeom>
          <a:solidFill>
            <a:srgbClr val="F2F6F9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1" dirty="0" smtClean="0">
                <a:solidFill>
                  <a:srgbClr val="0096A5"/>
                </a:solidFill>
                <a:latin typeface="Aptos"/>
              </a:rPr>
              <a:t>Commercial &amp; Financial Management $</a:t>
            </a:r>
            <a:endParaRPr sz="1500" b="1" dirty="0">
              <a:solidFill>
                <a:srgbClr val="0096A5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4133087"/>
            <a:ext cx="4800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1" dirty="0" smtClean="0">
                <a:solidFill>
                  <a:srgbClr val="0C2540"/>
                </a:solidFill>
                <a:latin typeface="Aptos"/>
              </a:rPr>
              <a:t>Managed Cost , Revenue , P&amp;L Management , Accruals , Payback, NPV</a:t>
            </a:r>
            <a:endParaRPr sz="1000" b="1" dirty="0">
              <a:solidFill>
                <a:srgbClr val="0C254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4553712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I connect Procurement and Pricing decisions directly to P&amp;L — translating Cost, Revenue and Cash into measurable profitability and shareholder value.”</a:t>
            </a:r>
            <a:endParaRPr sz="850" b="0" dirty="0">
              <a:solidFill>
                <a:srgbClr val="30394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5669280"/>
            <a:ext cx="102412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I bring a global mindset, execute with local understanding, and align cross-functional teams to turn strategy into measurable business results</a:t>
            </a:r>
            <a:endParaRPr sz="1500" b="1" dirty="0">
              <a:solidFill>
                <a:srgbClr val="0C254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EXECUTIVE VALUE PROPOSITION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Connecting cost, value, price and margin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0096A5"/>
                </a:solidFill>
                <a:latin typeface="Aptos"/>
              </a:rPr>
              <a:t>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Global procurement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Value engineering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Global pricing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Commercial 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96A5"/>
                </a:solidFill>
                <a:latin typeface="Aptos"/>
              </a:rPr>
              <a:t>THE DIFFERENTIATOR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Supplier economics + customer value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Cost → Value → Price → Margin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AOP, ROI, NPV &amp; TCO discipline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Cross-functional global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0C2540"/>
                </a:solidFill>
                <a:latin typeface="Aptos"/>
              </a:rPr>
              <a:t>PROFILE 01 | GLOBAL PROCUREMENT &amp; STRATEGIC SOURCING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Current leadership: Actuation &amp; Sensing commodity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2AA"/>
                </a:solidFill>
                <a:latin typeface="Aptos"/>
              </a:rPr>
              <a:t>WHAT I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Global sourcing &amp; commodity strategies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Supplier performance, quality &amp; supply continuity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Negotiations: price, LTAs, payment, FX, T&amp;C, capacity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AOP and global MATEX initiatives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VE, supplier optimization, localization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Global team leadership across Europe &amp; India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A5"/>
                </a:solidFill>
                <a:latin typeface="Aptos"/>
              </a:rPr>
              <a:t>SELECTED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$300M+ global procurement spend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5%+ YoY MATEX savings responsibility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Strategic sourcing &amp; commodity strategy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Risk mitigation and supply continuity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Supplier selection &amp;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PROFILE 02 | GLOBAL PRICING &amp; COMMERCIAL EXCELLENCE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Global Pricing Manager experience: June 2023 –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0823C"/>
                </a:solidFill>
                <a:latin typeface="Aptos"/>
              </a:rPr>
              <a:t>WHAT I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Value-based &amp; transactional pricing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Inflation recovery: raw material, energy, freight, FX &amp; volume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Customer price negotiations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Pricing governance, DOA, contracts &amp; audits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P&amp;L analysis and executive dashboards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SAP pricing validation and data integrity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Pricing digitization &amp; process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A5"/>
                </a:solidFill>
                <a:latin typeface="Aptos"/>
              </a:rPr>
              <a:t>SELECTED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 P</a:t>
            </a:r>
            <a:r>
              <a:rPr dirty="0" smtClean="0"/>
              <a:t>ricing </a:t>
            </a:r>
            <a:r>
              <a:rPr dirty="0"/>
              <a:t>revenue generation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 smtClean="0"/>
              <a:t>•</a:t>
            </a:r>
            <a:r>
              <a:rPr lang="en-US" dirty="0" smtClean="0"/>
              <a:t>  </a:t>
            </a:r>
            <a:r>
              <a:rPr dirty="0" smtClean="0"/>
              <a:t>RDE </a:t>
            </a:r>
            <a:r>
              <a:rPr dirty="0"/>
              <a:t>cost recovery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 </a:t>
            </a:r>
            <a:r>
              <a:rPr dirty="0" smtClean="0"/>
              <a:t>Margin </a:t>
            </a:r>
            <a:r>
              <a:rPr dirty="0"/>
              <a:t>improvement &amp; leakage prevention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 </a:t>
            </a:r>
            <a:r>
              <a:rPr dirty="0" smtClean="0"/>
              <a:t>Commercial </a:t>
            </a:r>
            <a:r>
              <a:rPr dirty="0"/>
              <a:t>analytics and governance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 </a:t>
            </a:r>
            <a:r>
              <a:rPr dirty="0" smtClean="0"/>
              <a:t>Quarterly </a:t>
            </a:r>
            <a:r>
              <a:rPr dirty="0"/>
              <a:t>AOP revenue &amp; profitability alignment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VALUE ENGINEERING &amp; RE-SOURCING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070C0"/>
                </a:solidFill>
              </a:rPr>
              <a:t>Global portfolio across Asia, Europe, North America and Brazil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6A5"/>
                </a:solidFill>
                <a:latin typeface="Aptos"/>
              </a:rPr>
              <a:t>END-TO-END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Opportunity identification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Payback / NPV / ROI / TCO business cases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Supplier selection &amp; sourcing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Localization / Make vs Buy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Customer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A5"/>
                </a:solidFill>
                <a:latin typeface="Aptos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 </a:t>
            </a:r>
            <a:r>
              <a:rPr dirty="0" smtClean="0"/>
              <a:t>MATEX </a:t>
            </a:r>
            <a:r>
              <a:rPr dirty="0"/>
              <a:t>savings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150+ cross-functional projects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India for India / China for China / E2W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Alternate material, process &amp; design optimization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Strategic supplier negotiations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SELECTED BUSINESS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Quantified scale from procurement, pricing and VE/R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62AA"/>
                </a:solidFill>
                <a:latin typeface="Aptos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147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rPr dirty="0"/>
              <a:t>• $300M+ </a:t>
            </a:r>
            <a:r>
              <a:rPr lang="en-US" dirty="0" smtClean="0"/>
              <a:t>P</a:t>
            </a:r>
            <a:r>
              <a:rPr dirty="0" smtClean="0"/>
              <a:t>rocurement </a:t>
            </a:r>
            <a:r>
              <a:rPr dirty="0"/>
              <a:t>spend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 smtClean="0"/>
              <a:t>P</a:t>
            </a:r>
            <a:r>
              <a:rPr dirty="0" smtClean="0"/>
              <a:t>ricing </a:t>
            </a:r>
            <a:r>
              <a:rPr dirty="0"/>
              <a:t>revenue generation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dirty="0" smtClean="0"/>
              <a:t>RDE </a:t>
            </a:r>
            <a:r>
              <a:rPr dirty="0"/>
              <a:t>cost </a:t>
            </a:r>
            <a:r>
              <a:rPr dirty="0" smtClean="0"/>
              <a:t>recovery</a:t>
            </a:r>
            <a:endParaRPr lang="en-US" dirty="0" smtClean="0"/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dirty="0" smtClean="0"/>
              <a:t>Inflation recovery 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dirty="0" smtClean="0"/>
              <a:t>Value </a:t>
            </a:r>
            <a:r>
              <a:rPr lang="en-US" dirty="0" err="1" smtClean="0"/>
              <a:t>Enggineering</a:t>
            </a:r>
            <a:r>
              <a:rPr lang="en-US" dirty="0" smtClean="0"/>
              <a:t> &amp; Re-sourcing </a:t>
            </a:r>
            <a:endParaRPr lang="en-US" dirty="0"/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A5"/>
                </a:solidFill>
                <a:latin typeface="Aptos"/>
              </a:rPr>
              <a:t>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5%+ </a:t>
            </a:r>
            <a:r>
              <a:rPr dirty="0" err="1"/>
              <a:t>YoY</a:t>
            </a:r>
            <a:r>
              <a:rPr dirty="0"/>
              <a:t> MATEX savings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 </a:t>
            </a:r>
            <a:r>
              <a:rPr dirty="0" smtClean="0"/>
              <a:t>VE/R </a:t>
            </a:r>
            <a:r>
              <a:rPr dirty="0"/>
              <a:t>MATEX savings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rPr dirty="0"/>
              <a:t>• 150+ projects managed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LEADERSHIP, DIGITAL &amp; BUSINESS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070C0"/>
                </a:solidFill>
              </a:rPr>
              <a:t>Data-backed decisions, governance and cross-functional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6A5"/>
                </a:solidFill>
                <a:latin typeface="Aptos"/>
              </a:rPr>
              <a:t>LEADERSHIP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Global team leadership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Cross-functional influence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Supplier relationship management</a:t>
            </a:r>
          </a:p>
          <a:p>
            <a:pPr>
              <a:spcAft>
                <a:spcPts val="500"/>
              </a:spcAft>
              <a:defRPr sz="1150">
                <a:solidFill>
                  <a:srgbClr val="303942"/>
                </a:solidFill>
                <a:latin typeface="Aptos"/>
              </a:defRPr>
            </a:pPr>
            <a:r>
              <a:t>• Executive reviews &amp; AOP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A5"/>
                </a:solidFill>
                <a:latin typeface="Aptos"/>
              </a:rPr>
              <a:t>DIGITAL +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SAP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Ariba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Coupa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Salesforce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Power BI / data analytics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P&amp;L oversight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ROI / NPV / Payback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Audit &amp; compliance</a:t>
            </a:r>
          </a:p>
          <a:p>
            <a:pPr>
              <a:spcAft>
                <a:spcPts val="500"/>
              </a:spcAft>
              <a:defRPr sz="1000">
                <a:solidFill>
                  <a:srgbClr val="303942"/>
                </a:solidFill>
                <a:latin typeface="Aptos"/>
              </a:defRPr>
            </a:pPr>
            <a:r>
              <a:t>• Risk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WHY THIS PROFILE IS DIFFERENT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560320" cy="3337560"/>
          </a:xfrm>
          <a:prstGeom prst="roundRect">
            <a:avLst/>
          </a:prstGeom>
          <a:solidFill>
            <a:srgbClr val="183753"/>
          </a:solidFill>
          <a:ln>
            <a:solidFill>
              <a:srgbClr val="46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5DCE0"/>
                </a:solidFill>
                <a:latin typeface="Aptos"/>
              </a:rPr>
              <a:t>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Supplier economics, should-cost, commodity and TCO.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560320" cy="3337560"/>
          </a:xfrm>
          <a:prstGeom prst="roundRect">
            <a:avLst/>
          </a:prstGeom>
          <a:solidFill>
            <a:srgbClr val="183753"/>
          </a:solidFill>
          <a:ln>
            <a:solidFill>
              <a:srgbClr val="46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5DCE0"/>
                </a:solidFill>
                <a:latin typeface="Aptos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4688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Engineering and sourcing opportunities into business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2560320" cy="3337560"/>
          </a:xfrm>
          <a:prstGeom prst="roundRect">
            <a:avLst/>
          </a:prstGeom>
          <a:solidFill>
            <a:srgbClr val="183753"/>
          </a:solidFill>
          <a:ln>
            <a:solidFill>
              <a:srgbClr val="46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5DCE0"/>
                </a:solidFill>
                <a:latin typeface="Aptos"/>
              </a:rPr>
              <a:t>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4688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Cost and customer value into disciplined pricing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17320"/>
            <a:ext cx="2560320" cy="3337560"/>
          </a:xfrm>
          <a:prstGeom prst="roundRect">
            <a:avLst/>
          </a:prstGeom>
          <a:solidFill>
            <a:srgbClr val="183753"/>
          </a:solidFill>
          <a:ln>
            <a:solidFill>
              <a:srgbClr val="469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19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5DCE0"/>
                </a:solidFill>
                <a:latin typeface="Aptos"/>
              </a:rP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46888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Profitability through governance, P&amp;L and leakage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COST  →  VALUE  →  PRICE  →  MARGIN  →  PROFITABLE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40"/>
                </a:solidFill>
                <a:latin typeface="Aptos"/>
              </a:rPr>
              <a:t>TARGET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51560" cy="45720"/>
          </a:xfrm>
          <a:prstGeom prst="rect">
            <a:avLst/>
          </a:prstGeom>
          <a:solidFill>
            <a:srgbClr val="009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0972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0070C0"/>
                </a:solidFill>
              </a:rPr>
              <a:t>Open to </a:t>
            </a:r>
            <a:r>
              <a:rPr lang="en-US" sz="1100" b="1" dirty="0" smtClean="0">
                <a:solidFill>
                  <a:srgbClr val="0070C0"/>
                </a:solidFill>
              </a:rPr>
              <a:t>S</a:t>
            </a:r>
            <a:r>
              <a:rPr sz="1100" b="1" dirty="0" smtClean="0">
                <a:solidFill>
                  <a:srgbClr val="0070C0"/>
                </a:solidFill>
              </a:rPr>
              <a:t>enior </a:t>
            </a:r>
            <a:r>
              <a:rPr sz="1100" b="1" dirty="0">
                <a:solidFill>
                  <a:srgbClr val="0070C0"/>
                </a:solidFill>
              </a:rPr>
              <a:t>international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2D6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62AA"/>
                </a:solidFill>
                <a:latin typeface="Aptos"/>
              </a:rPr>
              <a:t>PROCUREMENT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2697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Global Procurement Manager</a:t>
            </a:r>
            <a:br>
              <a:rPr dirty="0"/>
            </a:br>
            <a:r>
              <a:rPr dirty="0"/>
              <a:t>Global Commodity Manager</a:t>
            </a:r>
            <a:br>
              <a:rPr dirty="0"/>
            </a:br>
            <a:r>
              <a:rPr dirty="0"/>
              <a:t>Strategic Sourcing</a:t>
            </a:r>
            <a:br>
              <a:rPr dirty="0"/>
            </a:br>
            <a:r>
              <a:rPr dirty="0"/>
              <a:t>Procurement Excellence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17320"/>
            <a:ext cx="333756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E08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0823C"/>
                </a:solidFill>
                <a:latin typeface="Aptos"/>
              </a:rPr>
              <a:t>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2560320"/>
            <a:ext cx="2697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Global Pricing Manager</a:t>
            </a:r>
            <a:br>
              <a:rPr dirty="0"/>
            </a:br>
            <a:r>
              <a:rPr dirty="0"/>
              <a:t>Commercial Excellence</a:t>
            </a:r>
            <a:br>
              <a:rPr dirty="0"/>
            </a:br>
            <a:r>
              <a:rPr dirty="0"/>
              <a:t>Pricing Strategy /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337560" cy="3566160"/>
          </a:xfrm>
          <a:prstGeom prst="roundRect">
            <a:avLst/>
          </a:prstGeom>
          <a:solidFill>
            <a:srgbClr val="F2F6F9"/>
          </a:solidFill>
          <a:ln>
            <a:solidFill>
              <a:srgbClr val="0096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6A5"/>
                </a:solidFill>
                <a:latin typeface="Aptos"/>
              </a:rPr>
              <a:t>TRANSFORMATION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60320"/>
            <a:ext cx="2697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VE / Re-sourcing</a:t>
            </a:r>
            <a:br>
              <a:rPr dirty="0"/>
            </a:br>
            <a:r>
              <a:rPr dirty="0"/>
              <a:t>Cost Transformation</a:t>
            </a:r>
            <a:br>
              <a:rPr dirty="0"/>
            </a:br>
            <a:r>
              <a:rPr dirty="0"/>
              <a:t>Global Program 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C2540"/>
                </a:solidFill>
                <a:latin typeface="Aptos"/>
              </a:rPr>
              <a:t>Preferred market focus: Czech Republic • Europe • North America | Open to relocation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LET'S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75DCE0"/>
                </a:solidFill>
                <a:latin typeface="Aptos"/>
              </a:rPr>
              <a:t>Sachin Bagul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Global Procurement &amp; Strategic Sourcing | Global Pricing &amp; Commercial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495006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sachinbagul@gmail.com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8331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linkedin.com/in/</a:t>
            </a:r>
            <a:r>
              <a:rPr sz="1300" b="1" dirty="0" err="1">
                <a:solidFill>
                  <a:srgbClr val="FFFFFF"/>
                </a:solidFill>
                <a:latin typeface="Aptos"/>
              </a:rPr>
              <a:t>sachinbagul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578249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Thank you for your time and consideration.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882"/>
                </a:solidFill>
                <a:latin typeface="Aptos"/>
              </a:rPr>
              <a:t>SACHIN BAGUL  |  PROCUREMENT • PRICING • COMMERCIAL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E7882"/>
                </a:solidFill>
                <a:latin typeface="Aptos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287" y="3429000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b="1" dirty="0" smtClean="0">
                <a:solidFill>
                  <a:srgbClr val="FFFFFF"/>
                </a:solidFill>
                <a:latin typeface="Aptos"/>
              </a:rPr>
              <a:t>Mb No: 9890 82 2329 </a:t>
            </a:r>
            <a:endParaRPr sz="1300" b="1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1205</Words>
  <Application>Microsoft Office PowerPoint</Application>
  <PresentationFormat>Custom</PresentationFormat>
  <Paragraphs>219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dc:description>generated using python-pptx</dc:description>
  <cp:lastModifiedBy>HP</cp:lastModifiedBy>
  <cp:revision>6</cp:revision>
  <dcterms:created xsi:type="dcterms:W3CDTF">2013-01-27T09:14:16Z</dcterms:created>
  <dcterms:modified xsi:type="dcterms:W3CDTF">2026-09-02T17:41:34Z</dcterms:modified>
</cp:coreProperties>
</file>